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7"/>
  </p:notesMasterIdLst>
  <p:sldIdLst>
    <p:sldId id="256" r:id="rId2"/>
    <p:sldId id="259" r:id="rId3"/>
    <p:sldId id="262" r:id="rId4"/>
    <p:sldId id="263" r:id="rId5"/>
    <p:sldId id="276" r:id="rId6"/>
    <p:sldId id="271" r:id="rId7"/>
    <p:sldId id="264" r:id="rId8"/>
    <p:sldId id="282" r:id="rId9"/>
    <p:sldId id="284" r:id="rId10"/>
    <p:sldId id="283" r:id="rId11"/>
    <p:sldId id="265" r:id="rId12"/>
    <p:sldId id="277" r:id="rId13"/>
    <p:sldId id="285" r:id="rId14"/>
    <p:sldId id="295" r:id="rId15"/>
    <p:sldId id="296" r:id="rId16"/>
    <p:sldId id="298" r:id="rId17"/>
    <p:sldId id="299" r:id="rId18"/>
    <p:sldId id="300" r:id="rId19"/>
    <p:sldId id="286" r:id="rId20"/>
    <p:sldId id="288" r:id="rId21"/>
    <p:sldId id="301" r:id="rId22"/>
    <p:sldId id="302" r:id="rId23"/>
    <p:sldId id="290" r:id="rId24"/>
    <p:sldId id="303" r:id="rId25"/>
    <p:sldId id="304" r:id="rId26"/>
    <p:sldId id="291" r:id="rId27"/>
    <p:sldId id="305" r:id="rId28"/>
    <p:sldId id="306" r:id="rId29"/>
    <p:sldId id="267" r:id="rId30"/>
    <p:sldId id="280" r:id="rId31"/>
    <p:sldId id="281" r:id="rId32"/>
    <p:sldId id="266" r:id="rId33"/>
    <p:sldId id="292" r:id="rId34"/>
    <p:sldId id="307" r:id="rId35"/>
    <p:sldId id="261" r:id="rId36"/>
  </p:sldIdLst>
  <p:sldSz cx="12192000" cy="6858000"/>
  <p:notesSz cx="6858000" cy="9144000"/>
  <p:custDataLst>
    <p:tags r:id="rId38"/>
  </p:custDataLst>
  <p:defaultTextStyle>
    <a:defPPr>
      <a:defRPr lang="zh-CN"/>
    </a:defPPr>
    <a:lvl1pPr marL="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56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orient="horz" pos="4088">
          <p15:clr>
            <a:srgbClr val="A4A3A4"/>
          </p15:clr>
        </p15:guide>
        <p15:guide id="4" pos="252">
          <p15:clr>
            <a:srgbClr val="A4A3A4"/>
          </p15:clr>
        </p15:guide>
        <p15:guide id="5" pos="74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75B6"/>
    <a:srgbClr val="1A9895"/>
    <a:srgbClr val="A1D3D0"/>
    <a:srgbClr val="E9E9E9"/>
    <a:srgbClr val="E4E4E4"/>
    <a:srgbClr val="DADADA"/>
    <a:srgbClr val="E7E7E7"/>
    <a:srgbClr val="425B5B"/>
    <a:srgbClr val="00272C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14" autoAdjust="0"/>
    <p:restoredTop sz="94687" autoAdjust="0"/>
  </p:normalViewPr>
  <p:slideViewPr>
    <p:cSldViewPr snapToGrid="0" snapToObjects="1">
      <p:cViewPr varScale="1">
        <p:scale>
          <a:sx n="104" d="100"/>
          <a:sy n="104" d="100"/>
        </p:scale>
        <p:origin x="594" y="114"/>
      </p:cViewPr>
      <p:guideLst>
        <p:guide pos="3856"/>
        <p:guide orient="horz" pos="2160"/>
        <p:guide orient="horz" pos="4088"/>
        <p:guide pos="252"/>
        <p:guide pos="74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gs" Target="tags/tag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13C286-71F6-4877-B1A2-72A72636116B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0A15B9D0-D8C2-4C35-93CE-3A7AA7B8EB79}">
      <dgm:prSet phldrT="[文本]" custT="1"/>
      <dgm:spPr/>
      <dgm:t>
        <a:bodyPr/>
        <a:lstStyle/>
        <a:p>
          <a:r>
            <a:rPr lang="zh-CN" altLang="en-US" sz="1800" dirty="0"/>
            <a:t>浏览器发起请求</a:t>
          </a:r>
        </a:p>
      </dgm:t>
    </dgm:pt>
    <dgm:pt modelId="{2325F966-AA64-49BE-93DF-07AAC7769456}" type="parTrans" cxnId="{A8AEE963-7185-4B6D-8261-1AAC44ABFBDA}">
      <dgm:prSet/>
      <dgm:spPr/>
      <dgm:t>
        <a:bodyPr/>
        <a:lstStyle/>
        <a:p>
          <a:endParaRPr lang="zh-CN" altLang="en-US"/>
        </a:p>
      </dgm:t>
    </dgm:pt>
    <dgm:pt modelId="{057E3EB9-98F3-45E1-B46E-4CC4E4378BB5}" type="sibTrans" cxnId="{A8AEE963-7185-4B6D-8261-1AAC44ABFBDA}">
      <dgm:prSet/>
      <dgm:spPr/>
      <dgm:t>
        <a:bodyPr/>
        <a:lstStyle/>
        <a:p>
          <a:endParaRPr lang="zh-CN" altLang="en-US"/>
        </a:p>
      </dgm:t>
    </dgm:pt>
    <dgm:pt modelId="{81E1BF09-1BA2-440B-AB48-1FC25DC2C012}">
      <dgm:prSet phldrT="[文本]" custT="1"/>
      <dgm:spPr/>
      <dgm:t>
        <a:bodyPr/>
        <a:lstStyle/>
        <a:p>
          <a:r>
            <a:rPr lang="zh-CN" altLang="en-US" sz="2000" dirty="0"/>
            <a:t>网关</a:t>
          </a:r>
          <a:r>
            <a:rPr lang="en-US" altLang="zh-CN" sz="2000" dirty="0"/>
            <a:t>JWT</a:t>
          </a:r>
          <a:r>
            <a:rPr lang="zh-CN" altLang="en-US" sz="2000" dirty="0"/>
            <a:t>验证</a:t>
          </a:r>
        </a:p>
      </dgm:t>
    </dgm:pt>
    <dgm:pt modelId="{C58F87B8-A44F-4A84-B157-531C5CC09E75}" type="parTrans" cxnId="{E7844088-9E23-441C-8750-9D0D780952C6}">
      <dgm:prSet/>
      <dgm:spPr/>
      <dgm:t>
        <a:bodyPr/>
        <a:lstStyle/>
        <a:p>
          <a:endParaRPr lang="zh-CN" altLang="en-US"/>
        </a:p>
      </dgm:t>
    </dgm:pt>
    <dgm:pt modelId="{82BC8329-6E06-4369-9DC1-DB3E6F1BC98D}" type="sibTrans" cxnId="{E7844088-9E23-441C-8750-9D0D780952C6}">
      <dgm:prSet/>
      <dgm:spPr/>
      <dgm:t>
        <a:bodyPr/>
        <a:lstStyle/>
        <a:p>
          <a:endParaRPr lang="zh-CN" altLang="en-US"/>
        </a:p>
      </dgm:t>
    </dgm:pt>
    <dgm:pt modelId="{906E77CB-9665-4416-91B7-66FA4122369B}">
      <dgm:prSet phldrT="[文本]" custT="1"/>
      <dgm:spPr/>
      <dgm:t>
        <a:bodyPr/>
        <a:lstStyle/>
        <a:p>
          <a:r>
            <a:rPr lang="zh-CN" altLang="en-US" sz="2000" dirty="0"/>
            <a:t>业务服务</a:t>
          </a:r>
        </a:p>
      </dgm:t>
    </dgm:pt>
    <dgm:pt modelId="{6A4BF047-1039-4253-97A3-7A40029AB192}" type="parTrans" cxnId="{F2BF91BC-95C5-44F1-AE9F-A1A71863E46A}">
      <dgm:prSet/>
      <dgm:spPr/>
      <dgm:t>
        <a:bodyPr/>
        <a:lstStyle/>
        <a:p>
          <a:endParaRPr lang="zh-CN" altLang="en-US"/>
        </a:p>
      </dgm:t>
    </dgm:pt>
    <dgm:pt modelId="{E026FF2F-3F08-4392-9719-D707F182B2DB}" type="sibTrans" cxnId="{F2BF91BC-95C5-44F1-AE9F-A1A71863E46A}">
      <dgm:prSet/>
      <dgm:spPr/>
      <dgm:t>
        <a:bodyPr/>
        <a:lstStyle/>
        <a:p>
          <a:endParaRPr lang="zh-CN" altLang="en-US"/>
        </a:p>
      </dgm:t>
    </dgm:pt>
    <dgm:pt modelId="{5D1800CC-57C9-4002-9001-FBB3AFDAD15C}" type="pres">
      <dgm:prSet presAssocID="{CF13C286-71F6-4877-B1A2-72A72636116B}" presName="Name0" presStyleCnt="0">
        <dgm:presLayoutVars>
          <dgm:dir/>
          <dgm:animLvl val="lvl"/>
          <dgm:resizeHandles val="exact"/>
        </dgm:presLayoutVars>
      </dgm:prSet>
      <dgm:spPr/>
    </dgm:pt>
    <dgm:pt modelId="{6C3957C5-BB4B-4E4C-B5CF-7DF9424072F3}" type="pres">
      <dgm:prSet presAssocID="{0A15B9D0-D8C2-4C35-93CE-3A7AA7B8EB79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6F61B47D-30C3-4D66-988E-F9E86FF1475F}" type="pres">
      <dgm:prSet presAssocID="{057E3EB9-98F3-45E1-B46E-4CC4E4378BB5}" presName="parTxOnlySpace" presStyleCnt="0"/>
      <dgm:spPr/>
    </dgm:pt>
    <dgm:pt modelId="{2F410DDE-5BB0-4AA8-9759-5644FED3729D}" type="pres">
      <dgm:prSet presAssocID="{81E1BF09-1BA2-440B-AB48-1FC25DC2C012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26CCDB6C-3699-49A3-81DC-B7AC7867FEA8}" type="pres">
      <dgm:prSet presAssocID="{82BC8329-6E06-4369-9DC1-DB3E6F1BC98D}" presName="parTxOnlySpace" presStyleCnt="0"/>
      <dgm:spPr/>
    </dgm:pt>
    <dgm:pt modelId="{86E07B8E-91D1-4D6A-AE53-29FA6909D4DF}" type="pres">
      <dgm:prSet presAssocID="{906E77CB-9665-4416-91B7-66FA4122369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A1549114-47F9-477D-8ED0-B88D6392E699}" type="presOf" srcId="{CF13C286-71F6-4877-B1A2-72A72636116B}" destId="{5D1800CC-57C9-4002-9001-FBB3AFDAD15C}" srcOrd="0" destOrd="0" presId="urn:microsoft.com/office/officeart/2005/8/layout/chevron1"/>
    <dgm:cxn modelId="{A8AEE963-7185-4B6D-8261-1AAC44ABFBDA}" srcId="{CF13C286-71F6-4877-B1A2-72A72636116B}" destId="{0A15B9D0-D8C2-4C35-93CE-3A7AA7B8EB79}" srcOrd="0" destOrd="0" parTransId="{2325F966-AA64-49BE-93DF-07AAC7769456}" sibTransId="{057E3EB9-98F3-45E1-B46E-4CC4E4378BB5}"/>
    <dgm:cxn modelId="{E7844088-9E23-441C-8750-9D0D780952C6}" srcId="{CF13C286-71F6-4877-B1A2-72A72636116B}" destId="{81E1BF09-1BA2-440B-AB48-1FC25DC2C012}" srcOrd="1" destOrd="0" parTransId="{C58F87B8-A44F-4A84-B157-531C5CC09E75}" sibTransId="{82BC8329-6E06-4369-9DC1-DB3E6F1BC98D}"/>
    <dgm:cxn modelId="{499ED5AF-AE93-410E-981D-EFF0567EA0B4}" type="presOf" srcId="{81E1BF09-1BA2-440B-AB48-1FC25DC2C012}" destId="{2F410DDE-5BB0-4AA8-9759-5644FED3729D}" srcOrd="0" destOrd="0" presId="urn:microsoft.com/office/officeart/2005/8/layout/chevron1"/>
    <dgm:cxn modelId="{F2BF91BC-95C5-44F1-AE9F-A1A71863E46A}" srcId="{CF13C286-71F6-4877-B1A2-72A72636116B}" destId="{906E77CB-9665-4416-91B7-66FA4122369B}" srcOrd="2" destOrd="0" parTransId="{6A4BF047-1039-4253-97A3-7A40029AB192}" sibTransId="{E026FF2F-3F08-4392-9719-D707F182B2DB}"/>
    <dgm:cxn modelId="{8899BDF1-BB7A-427A-A8C4-35AE52633149}" type="presOf" srcId="{0A15B9D0-D8C2-4C35-93CE-3A7AA7B8EB79}" destId="{6C3957C5-BB4B-4E4C-B5CF-7DF9424072F3}" srcOrd="0" destOrd="0" presId="urn:microsoft.com/office/officeart/2005/8/layout/chevron1"/>
    <dgm:cxn modelId="{3952BBFD-F863-4004-8761-22D13D49C800}" type="presOf" srcId="{906E77CB-9665-4416-91B7-66FA4122369B}" destId="{86E07B8E-91D1-4D6A-AE53-29FA6909D4DF}" srcOrd="0" destOrd="0" presId="urn:microsoft.com/office/officeart/2005/8/layout/chevron1"/>
    <dgm:cxn modelId="{815BF1D1-4130-4DC9-8992-BE5E16D30FCA}" type="presParOf" srcId="{5D1800CC-57C9-4002-9001-FBB3AFDAD15C}" destId="{6C3957C5-BB4B-4E4C-B5CF-7DF9424072F3}" srcOrd="0" destOrd="0" presId="urn:microsoft.com/office/officeart/2005/8/layout/chevron1"/>
    <dgm:cxn modelId="{64B36092-CF3F-4B56-9380-E762D65BCF29}" type="presParOf" srcId="{5D1800CC-57C9-4002-9001-FBB3AFDAD15C}" destId="{6F61B47D-30C3-4D66-988E-F9E86FF1475F}" srcOrd="1" destOrd="0" presId="urn:microsoft.com/office/officeart/2005/8/layout/chevron1"/>
    <dgm:cxn modelId="{74E04A5C-4DEE-449C-A54F-20FC516B6DC5}" type="presParOf" srcId="{5D1800CC-57C9-4002-9001-FBB3AFDAD15C}" destId="{2F410DDE-5BB0-4AA8-9759-5644FED3729D}" srcOrd="2" destOrd="0" presId="urn:microsoft.com/office/officeart/2005/8/layout/chevron1"/>
    <dgm:cxn modelId="{CB2AB396-931F-4D01-AB97-FA85316E577A}" type="presParOf" srcId="{5D1800CC-57C9-4002-9001-FBB3AFDAD15C}" destId="{26CCDB6C-3699-49A3-81DC-B7AC7867FEA8}" srcOrd="3" destOrd="0" presId="urn:microsoft.com/office/officeart/2005/8/layout/chevron1"/>
    <dgm:cxn modelId="{CFC7ED60-7C8B-4643-B5C6-F3F7EEA21561}" type="presParOf" srcId="{5D1800CC-57C9-4002-9001-FBB3AFDAD15C}" destId="{86E07B8E-91D1-4D6A-AE53-29FA6909D4DF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3957C5-BB4B-4E4C-B5CF-7DF9424072F3}">
      <dsp:nvSpPr>
        <dsp:cNvPr id="0" name=""/>
        <dsp:cNvSpPr/>
      </dsp:nvSpPr>
      <dsp:spPr>
        <a:xfrm>
          <a:off x="2191" y="0"/>
          <a:ext cx="2670382" cy="97520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浏览器发起请求</a:t>
          </a:r>
        </a:p>
      </dsp:txBody>
      <dsp:txXfrm>
        <a:off x="489794" y="0"/>
        <a:ext cx="1695176" cy="975206"/>
      </dsp:txXfrm>
    </dsp:sp>
    <dsp:sp modelId="{2F410DDE-5BB0-4AA8-9759-5644FED3729D}">
      <dsp:nvSpPr>
        <dsp:cNvPr id="0" name=""/>
        <dsp:cNvSpPr/>
      </dsp:nvSpPr>
      <dsp:spPr>
        <a:xfrm>
          <a:off x="2405536" y="0"/>
          <a:ext cx="2670382" cy="97520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/>
            <a:t>网关</a:t>
          </a:r>
          <a:r>
            <a:rPr lang="en-US" altLang="zh-CN" sz="2000" kern="1200" dirty="0"/>
            <a:t>JWT</a:t>
          </a:r>
          <a:r>
            <a:rPr lang="zh-CN" altLang="en-US" sz="2000" kern="1200" dirty="0"/>
            <a:t>验证</a:t>
          </a:r>
        </a:p>
      </dsp:txBody>
      <dsp:txXfrm>
        <a:off x="2893139" y="0"/>
        <a:ext cx="1695176" cy="975206"/>
      </dsp:txXfrm>
    </dsp:sp>
    <dsp:sp modelId="{86E07B8E-91D1-4D6A-AE53-29FA6909D4DF}">
      <dsp:nvSpPr>
        <dsp:cNvPr id="0" name=""/>
        <dsp:cNvSpPr/>
      </dsp:nvSpPr>
      <dsp:spPr>
        <a:xfrm>
          <a:off x="4808880" y="0"/>
          <a:ext cx="2670382" cy="97520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/>
            <a:t>业务服务</a:t>
          </a:r>
        </a:p>
      </dsp:txBody>
      <dsp:txXfrm>
        <a:off x="5296483" y="0"/>
        <a:ext cx="1695176" cy="9752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EDCCCA-0BC9-4E4A-BDA5-57CA6EE6A4D0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E06540-3D4A-4D1B-89C3-AFCFAF39EF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543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06540-3D4A-4D1B-89C3-AFCFAF39EF4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051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06540-3D4A-4D1B-89C3-AFCFAF39EF4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229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06540-3D4A-4D1B-89C3-AFCFAF39EF4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9808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06540-3D4A-4D1B-89C3-AFCFAF39EF4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466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06540-3D4A-4D1B-89C3-AFCFAF39EF4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417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06540-3D4A-4D1B-89C3-AFCFAF39EF4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69691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06540-3D4A-4D1B-89C3-AFCFAF39EF4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7769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06540-3D4A-4D1B-89C3-AFCFAF39EF4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47523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25898-2050-61E2-01F2-0688C2631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F98997F-BDED-2426-2CB8-E8DBAC7736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233AF8-C817-1BDC-BF49-51AD69000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EB8CC4-007A-D4E0-BE64-0FC164B191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06540-3D4A-4D1B-89C3-AFCFAF39EF4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2943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D7B1D-6D47-F8FE-FE55-4EC198C1D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6746DD5-B912-B316-479A-0103C2A6B2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17A0BD4-8A8F-A017-2E20-D5B5CD8A8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5FD2E5-87B6-7FED-8F27-8C1A26BC5F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06540-3D4A-4D1B-89C3-AFCFAF39EF4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59640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06540-3D4A-4D1B-89C3-AFCFAF39EF4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05667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06540-3D4A-4D1B-89C3-AFCFAF39EF4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6685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103E0-C331-F157-BAB1-3DA091232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4FF6354-F5D7-8743-8D6F-B3A600C08D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85B61A4-AF53-F150-3FA1-83CBE47C9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E5F756-74EE-7891-BF8A-00086158F0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06540-3D4A-4D1B-89C3-AFCFAF39EF4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0609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08969-AA5D-625E-0CC8-91F725463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D7B5587-022D-AF9E-2535-FF6C2A9DA3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5BF3243-87E3-7A8A-8D1D-2A5F681FF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CBD847-298D-FD44-C170-5925821BD7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06540-3D4A-4D1B-89C3-AFCFAF39EF4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8207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0D999-E9CE-976C-8176-EA1AD4673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C7285C-6B5F-D0E3-02BC-C1AC6FDDE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4793EF7-F471-3BD0-65B9-C76B087674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771C67-7A33-A18F-82DA-B3226CC400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06540-3D4A-4D1B-89C3-AFCFAF39EF4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97628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C967F-1538-786B-7A41-697268269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901760-3575-8429-8A85-BD8540323B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9254295-4786-CAF2-CEC8-246E857F4B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23C9BF-53A5-E3CA-84A8-FDD827D8FF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06540-3D4A-4D1B-89C3-AFCFAF39EF4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56168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87162-22E3-8AC6-FEAA-7FBD1334C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1C2EEE2-0316-1937-94B2-292B131148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97EFD3-5FAC-6BBC-A429-48B6892F7D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FAF6DB-41F3-05EC-04D6-994D503DD5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06540-3D4A-4D1B-89C3-AFCFAF39EF4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82759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6CEA9-0E6E-593F-3BCE-A5DE654D2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64179F-9889-9ED3-03B1-F4E8019C67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1CEC9DF-5DA9-6261-F69A-849E5FF75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B4127C-C5CD-4CD0-FAC1-7556D4288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06540-3D4A-4D1B-89C3-AFCFAF39EF4F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822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C61D2-2DFB-A98F-CD40-5AD278BDE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6E4802-A7CA-0C4F-B977-03A36EA610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9B7371D-31F6-5F1A-4B13-87C2182CB2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ABC73C-51D1-DF14-5BAF-383CAB4FA2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06540-3D4A-4D1B-89C3-AFCFAF39EF4F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05444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FAE51-398C-3707-0C75-0510A4C16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57F16C4-E25A-C693-5318-F2EDB6576C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C70F648-996D-7091-4059-E37229337C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09B912-40A0-3242-CE9C-F3D42EE941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06540-3D4A-4D1B-89C3-AFCFAF39EF4F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2561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B85CF-A50C-C641-7A56-2888C083C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FDF46D-DEB0-A2D8-0671-7A0426F0C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FD9092-8BE9-FC37-E31F-CDD5C733F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702074-D555-06F2-B36B-BA4D1B586C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06540-3D4A-4D1B-89C3-AFCFAF39EF4F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63589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41526-5E58-89C7-4F49-01C1A88A2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7705DF7-C991-8D47-B24D-1B8A84404B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A89A755-9FFB-C71D-7AD1-408FBD24B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728C56-5D29-4AD9-B89E-20E2079F6F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06540-3D4A-4D1B-89C3-AFCFAF39EF4F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9261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BB53D-6DA8-575B-4416-C88E3A078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F44103-701C-7524-2D48-9944DEB654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6A9FA82-4C45-F201-CC6F-C220E59A99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C8EC8D-C266-CAFD-AC9E-D3F9E61DA3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06540-3D4A-4D1B-89C3-AFCFAF39EF4F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8058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9C8BD-88EA-21E2-8837-B76CC8B8A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A8DFE54-8DC0-A794-90D7-77BD73A8D4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AA3FEC-1817-813B-6D89-8B62CA923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914E29-A5AC-68ED-6361-A80CA4DA82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06540-3D4A-4D1B-89C3-AFCFAF39EF4F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1652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BE133-24AE-5F6C-CEAE-47CBD6238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B6CB18B-F594-3A76-DFB9-C234878A8E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5D3CEF9-A898-41C1-56EF-A955C11249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CBB7CD-F3B7-3E62-DC2A-806305F9B3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06540-3D4A-4D1B-89C3-AFCFAF39EF4F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35820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356CC-799C-3D15-DC8E-D4C6D5BE5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19211C-147C-9C04-B1AF-B3A8582E5A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FE4F0E2-64A3-B005-CF89-84B2E83129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ABA279-2EB9-125E-3B45-08D2ABD8ED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06540-3D4A-4D1B-89C3-AFCFAF39EF4F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67536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A26AF-2C3B-1738-160D-0ABDBD6F5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E1FF6C2-A89E-F5A6-EF22-46224E77B2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03E2BF5-6ED0-7C57-A2F9-BEC793ACC4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A7ABAA-E35D-4053-3786-2620620A23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06540-3D4A-4D1B-89C3-AFCFAF39EF4F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3172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4F138-D54C-3202-1299-A550EF824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63A916-B7C3-622F-C50A-6B57747349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99551E-75C8-27AF-6411-AB878D53B5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79F18E-8322-CF14-1540-2C3525B7DB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06540-3D4A-4D1B-89C3-AFCFAF39EF4F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572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06540-3D4A-4D1B-89C3-AFCFAF39EF4F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97874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06540-3D4A-4D1B-89C3-AFCFAF39EF4F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9706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06540-3D4A-4D1B-89C3-AFCFAF39EF4F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505896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06540-3D4A-4D1B-89C3-AFCFAF39EF4F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16771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8DE32-FC6E-7E49-4175-C7164BAFB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E2BD86-FA16-BB27-0F35-DCCD15696E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FFF25B-4B48-1533-7835-D467721F3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E2BDBB-E266-0D07-055F-1ED332C0C2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06540-3D4A-4D1B-89C3-AFCFAF39EF4F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526667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7988D-94A0-1A28-736E-32C1F475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685C4D7-3A4D-B23D-E0A3-9384D65E0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610ECA4-6DA1-6354-783A-C8A8535FF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5D772C-550D-599B-BA43-BE18D5095D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06540-3D4A-4D1B-89C3-AFCFAF39EF4F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311900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06540-3D4A-4D1B-89C3-AFCFAF39EF4F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154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 userDrawn="1"/>
        </p:nvCxnSpPr>
        <p:spPr>
          <a:xfrm flipH="1">
            <a:off x="-165100" y="264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 flipH="1">
            <a:off x="-38100" y="391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/>
        </p:nvCxnSpPr>
        <p:spPr>
          <a:xfrm flipH="1">
            <a:off x="88900" y="518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 flipH="1">
            <a:off x="215900" y="645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 userDrawn="1"/>
        </p:nvCxnSpPr>
        <p:spPr>
          <a:xfrm flipH="1">
            <a:off x="342900" y="772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/>
        </p:nvCxnSpPr>
        <p:spPr>
          <a:xfrm flipH="1">
            <a:off x="469900" y="899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/>
        </p:nvCxnSpPr>
        <p:spPr>
          <a:xfrm flipH="1">
            <a:off x="596900" y="1026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 userDrawn="1"/>
        </p:nvCxnSpPr>
        <p:spPr>
          <a:xfrm flipH="1">
            <a:off x="723900" y="1153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 userDrawn="1"/>
        </p:nvCxnSpPr>
        <p:spPr>
          <a:xfrm flipH="1">
            <a:off x="850900" y="1280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 userDrawn="1"/>
        </p:nvCxnSpPr>
        <p:spPr>
          <a:xfrm flipH="1">
            <a:off x="977900" y="1407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 userDrawn="1"/>
        </p:nvCxnSpPr>
        <p:spPr>
          <a:xfrm flipH="1">
            <a:off x="1104900" y="1534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 userDrawn="1"/>
        </p:nvCxnSpPr>
        <p:spPr>
          <a:xfrm flipH="1">
            <a:off x="1231900" y="1661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 userDrawn="1"/>
        </p:nvCxnSpPr>
        <p:spPr>
          <a:xfrm flipH="1">
            <a:off x="1358900" y="1788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/>
        </p:nvCxnSpPr>
        <p:spPr>
          <a:xfrm flipH="1">
            <a:off x="1485900" y="1915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 userDrawn="1"/>
        </p:nvCxnSpPr>
        <p:spPr>
          <a:xfrm flipH="1">
            <a:off x="1612900" y="2042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 userDrawn="1"/>
        </p:nvCxnSpPr>
        <p:spPr>
          <a:xfrm flipH="1">
            <a:off x="1739900" y="2169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 userDrawn="1"/>
        </p:nvCxnSpPr>
        <p:spPr>
          <a:xfrm flipH="1">
            <a:off x="1866900" y="2296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 userDrawn="1"/>
        </p:nvCxnSpPr>
        <p:spPr>
          <a:xfrm flipH="1">
            <a:off x="1993900" y="2423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 userDrawn="1"/>
        </p:nvCxnSpPr>
        <p:spPr>
          <a:xfrm flipH="1">
            <a:off x="2120900" y="2550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 userDrawn="1"/>
        </p:nvCxnSpPr>
        <p:spPr>
          <a:xfrm flipH="1">
            <a:off x="2247900" y="2677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 userDrawn="1"/>
        </p:nvCxnSpPr>
        <p:spPr>
          <a:xfrm flipH="1">
            <a:off x="2374900" y="2804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 userDrawn="1"/>
        </p:nvCxnSpPr>
        <p:spPr>
          <a:xfrm flipH="1">
            <a:off x="2501900" y="2931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 flipH="1">
            <a:off x="2628900" y="3058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 userDrawn="1"/>
        </p:nvCxnSpPr>
        <p:spPr>
          <a:xfrm flipH="1">
            <a:off x="2755900" y="3185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 userDrawn="1"/>
        </p:nvCxnSpPr>
        <p:spPr>
          <a:xfrm flipH="1">
            <a:off x="2882900" y="3312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 userDrawn="1"/>
        </p:nvCxnSpPr>
        <p:spPr>
          <a:xfrm flipH="1">
            <a:off x="3009900" y="3439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 userDrawn="1"/>
        </p:nvCxnSpPr>
        <p:spPr>
          <a:xfrm flipH="1">
            <a:off x="3136900" y="3566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 userDrawn="1"/>
        </p:nvCxnSpPr>
        <p:spPr>
          <a:xfrm flipH="1">
            <a:off x="3263900" y="3693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 userDrawn="1"/>
        </p:nvCxnSpPr>
        <p:spPr>
          <a:xfrm flipH="1">
            <a:off x="3390900" y="3820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 userDrawn="1"/>
        </p:nvCxnSpPr>
        <p:spPr>
          <a:xfrm flipH="1">
            <a:off x="3517900" y="3947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 userDrawn="1"/>
        </p:nvCxnSpPr>
        <p:spPr>
          <a:xfrm flipH="1">
            <a:off x="3644900" y="4074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 userDrawn="1"/>
        </p:nvCxnSpPr>
        <p:spPr>
          <a:xfrm flipH="1">
            <a:off x="3771900" y="4201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 userDrawn="1"/>
        </p:nvCxnSpPr>
        <p:spPr>
          <a:xfrm flipH="1">
            <a:off x="3898900" y="4328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 userDrawn="1"/>
        </p:nvCxnSpPr>
        <p:spPr>
          <a:xfrm flipH="1">
            <a:off x="4025900" y="4455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 userDrawn="1"/>
        </p:nvCxnSpPr>
        <p:spPr>
          <a:xfrm flipH="1">
            <a:off x="4152900" y="4582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 userDrawn="1"/>
        </p:nvCxnSpPr>
        <p:spPr>
          <a:xfrm flipH="1">
            <a:off x="4279900" y="4709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 userDrawn="1"/>
        </p:nvCxnSpPr>
        <p:spPr>
          <a:xfrm flipH="1">
            <a:off x="4406900" y="4836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 flipH="1">
            <a:off x="4533900" y="4963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 userDrawn="1"/>
        </p:nvCxnSpPr>
        <p:spPr>
          <a:xfrm flipH="1">
            <a:off x="-292100" y="137795"/>
            <a:ext cx="2418715" cy="2286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 2"/>
          <p:cNvSpPr/>
          <p:nvPr userDrawn="1"/>
        </p:nvSpPr>
        <p:spPr>
          <a:xfrm>
            <a:off x="425602" y="652450"/>
            <a:ext cx="11340795" cy="4876549"/>
          </a:xfrm>
          <a:prstGeom prst="roundRect">
            <a:avLst/>
          </a:prstGeom>
          <a:solidFill>
            <a:srgbClr val="E9E9E9"/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-15754" y="-23111"/>
            <a:ext cx="12207754" cy="361483"/>
          </a:xfrm>
          <a:prstGeom prst="rect">
            <a:avLst/>
          </a:prstGeom>
          <a:pattFill prst="pct70">
            <a:fgClr>
              <a:schemeClr val="accent1">
                <a:lumMod val="75000"/>
              </a:schemeClr>
            </a:fgClr>
            <a:bgClr>
              <a:srgbClr val="E9E9E9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 userDrawn="1"/>
        </p:nvGrpSpPr>
        <p:grpSpPr>
          <a:xfrm rot="3540000" flipH="1">
            <a:off x="7560310" y="2720975"/>
            <a:ext cx="7341870" cy="6329045"/>
            <a:chOff x="3241126" y="967902"/>
            <a:chExt cx="5709747" cy="4922196"/>
          </a:xfrm>
        </p:grpSpPr>
        <p:sp>
          <p:nvSpPr>
            <p:cNvPr id="22" name="圆角矩形 21"/>
            <p:cNvSpPr/>
            <p:nvPr/>
          </p:nvSpPr>
          <p:spPr>
            <a:xfrm>
              <a:off x="3241126" y="967902"/>
              <a:ext cx="5709747" cy="4922196"/>
            </a:xfrm>
            <a:prstGeom prst="roundRect">
              <a:avLst/>
            </a:prstGeom>
            <a:solidFill>
              <a:srgbClr val="E9E9E9"/>
            </a:solidFill>
            <a:ln w="571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3" name="直接连接符 22"/>
            <p:cNvCxnSpPr/>
            <p:nvPr/>
          </p:nvCxnSpPr>
          <p:spPr>
            <a:xfrm rot="11303420" flipH="1" flipV="1">
              <a:off x="7632705" y="984239"/>
              <a:ext cx="474623" cy="3217900"/>
            </a:xfrm>
            <a:prstGeom prst="line">
              <a:avLst/>
            </a:prstGeom>
            <a:ln w="762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V="1">
              <a:off x="5005084" y="4219095"/>
              <a:ext cx="2864445" cy="1653789"/>
            </a:xfrm>
            <a:prstGeom prst="line">
              <a:avLst/>
            </a:prstGeom>
            <a:ln w="762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 rot="693700">
            <a:off x="6432550" y="-2025015"/>
            <a:ext cx="7510780" cy="6475095"/>
            <a:chOff x="3241126" y="967902"/>
            <a:chExt cx="5709748" cy="4922199"/>
          </a:xfrm>
        </p:grpSpPr>
        <p:sp>
          <p:nvSpPr>
            <p:cNvPr id="31" name="圆角矩形 30"/>
            <p:cNvSpPr/>
            <p:nvPr/>
          </p:nvSpPr>
          <p:spPr>
            <a:xfrm>
              <a:off x="3241126" y="967902"/>
              <a:ext cx="5709748" cy="4922196"/>
            </a:xfrm>
            <a:prstGeom prst="roundRect">
              <a:avLst/>
            </a:prstGeom>
            <a:noFill/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2" name="直接连接符 31"/>
            <p:cNvCxnSpPr>
              <a:stCxn id="31" idx="0"/>
            </p:cNvCxnSpPr>
            <p:nvPr/>
          </p:nvCxnSpPr>
          <p:spPr>
            <a:xfrm rot="11303420" flipH="1" flipV="1">
              <a:off x="5858688" y="985310"/>
              <a:ext cx="474623" cy="321790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 flipV="1">
              <a:off x="6093606" y="4240456"/>
              <a:ext cx="2857268" cy="1649645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3"/>
          <p:cNvSpPr/>
          <p:nvPr userDrawn="1"/>
        </p:nvSpPr>
        <p:spPr>
          <a:xfrm>
            <a:off x="657225" y="364331"/>
            <a:ext cx="1607344" cy="707232"/>
          </a:xfrm>
          <a:custGeom>
            <a:avLst/>
            <a:gdLst>
              <a:gd name="connsiteX0" fmla="*/ 0 w 1607344"/>
              <a:gd name="connsiteY0" fmla="*/ 707232 h 707232"/>
              <a:gd name="connsiteX1" fmla="*/ 0 w 1607344"/>
              <a:gd name="connsiteY1" fmla="*/ 0 h 707232"/>
              <a:gd name="connsiteX2" fmla="*/ 1607344 w 1607344"/>
              <a:gd name="connsiteY2" fmla="*/ 0 h 707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07344" h="707232">
                <a:moveTo>
                  <a:pt x="0" y="707232"/>
                </a:moveTo>
                <a:lnTo>
                  <a:pt x="0" y="0"/>
                </a:lnTo>
                <a:lnTo>
                  <a:pt x="1607344" y="0"/>
                </a:lnTo>
              </a:path>
            </a:pathLst>
          </a:custGeom>
          <a:noFill/>
          <a:ln w="5715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 flipH="1" flipV="1">
            <a:off x="-27998" y="6684266"/>
            <a:ext cx="12207852" cy="196846"/>
          </a:xfrm>
          <a:prstGeom prst="rect">
            <a:avLst/>
          </a:prstGeom>
          <a:pattFill prst="ltUpDiag">
            <a:fgClr>
              <a:srgbClr val="2E75B6"/>
            </a:fgClr>
            <a:bgClr>
              <a:srgbClr val="E9E9E9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 userDrawn="1"/>
        </p:nvSpPr>
        <p:spPr>
          <a:xfrm>
            <a:off x="657225" y="364331"/>
            <a:ext cx="1607344" cy="707232"/>
          </a:xfrm>
          <a:custGeom>
            <a:avLst/>
            <a:gdLst>
              <a:gd name="connsiteX0" fmla="*/ 0 w 1607344"/>
              <a:gd name="connsiteY0" fmla="*/ 707232 h 707232"/>
              <a:gd name="connsiteX1" fmla="*/ 0 w 1607344"/>
              <a:gd name="connsiteY1" fmla="*/ 0 h 707232"/>
              <a:gd name="connsiteX2" fmla="*/ 1607344 w 1607344"/>
              <a:gd name="connsiteY2" fmla="*/ 0 h 707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07344" h="707232">
                <a:moveTo>
                  <a:pt x="0" y="707232"/>
                </a:moveTo>
                <a:lnTo>
                  <a:pt x="0" y="0"/>
                </a:lnTo>
                <a:lnTo>
                  <a:pt x="1607344" y="0"/>
                </a:lnTo>
              </a:path>
            </a:pathLst>
          </a:custGeom>
          <a:noFill/>
          <a:ln w="5715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 rot="16200000">
            <a:off x="8652407" y="3330556"/>
            <a:ext cx="6881113" cy="173779"/>
          </a:xfrm>
          <a:prstGeom prst="rect">
            <a:avLst/>
          </a:prstGeom>
          <a:pattFill prst="ltUpDiag">
            <a:fgClr>
              <a:srgbClr val="1A9895"/>
            </a:fgClr>
            <a:bgClr>
              <a:srgbClr val="E9E9E9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 rot="1918468" flipH="1">
            <a:off x="434976" y="1764030"/>
            <a:ext cx="6105524" cy="5263515"/>
            <a:chOff x="3241126" y="967902"/>
            <a:chExt cx="5709747" cy="4922199"/>
          </a:xfrm>
        </p:grpSpPr>
        <p:sp>
          <p:nvSpPr>
            <p:cNvPr id="22" name="圆角矩形 21"/>
            <p:cNvSpPr/>
            <p:nvPr/>
          </p:nvSpPr>
          <p:spPr>
            <a:xfrm>
              <a:off x="3241126" y="967902"/>
              <a:ext cx="5709747" cy="4922196"/>
            </a:xfrm>
            <a:prstGeom prst="roundRect">
              <a:avLst/>
            </a:prstGeom>
            <a:solidFill>
              <a:srgbClr val="E9E9E9"/>
            </a:solidFill>
            <a:ln w="57150">
              <a:solidFill>
                <a:srgbClr val="2E75B6">
                  <a:alpha val="6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" name="直接连接符 22"/>
            <p:cNvCxnSpPr>
              <a:stCxn id="22" idx="0"/>
            </p:cNvCxnSpPr>
            <p:nvPr/>
          </p:nvCxnSpPr>
          <p:spPr>
            <a:xfrm rot="11303420" flipH="1" flipV="1">
              <a:off x="5858688" y="985309"/>
              <a:ext cx="474623" cy="3217900"/>
            </a:xfrm>
            <a:prstGeom prst="line">
              <a:avLst/>
            </a:prstGeom>
            <a:ln w="76200">
              <a:solidFill>
                <a:srgbClr val="2E75B6">
                  <a:alpha val="6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V="1">
              <a:off x="3241127" y="4236312"/>
              <a:ext cx="2864445" cy="1653789"/>
            </a:xfrm>
            <a:prstGeom prst="line">
              <a:avLst/>
            </a:prstGeom>
            <a:ln w="76200">
              <a:solidFill>
                <a:srgbClr val="2E75B6">
                  <a:alpha val="6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 rot="2835027" flipH="1">
            <a:off x="7909561" y="2222500"/>
            <a:ext cx="6126479" cy="5281930"/>
            <a:chOff x="3241126" y="967902"/>
            <a:chExt cx="5709747" cy="4922199"/>
          </a:xfrm>
        </p:grpSpPr>
        <p:sp>
          <p:nvSpPr>
            <p:cNvPr id="8" name="圆角矩形 7"/>
            <p:cNvSpPr/>
            <p:nvPr/>
          </p:nvSpPr>
          <p:spPr>
            <a:xfrm>
              <a:off x="3241126" y="967902"/>
              <a:ext cx="5709747" cy="4922196"/>
            </a:xfrm>
            <a:prstGeom prst="roundRect">
              <a:avLst/>
            </a:prstGeom>
            <a:noFill/>
            <a:ln w="57150">
              <a:solidFill>
                <a:srgbClr val="E9E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" name="直接连接符 8"/>
            <p:cNvCxnSpPr>
              <a:stCxn id="8" idx="0"/>
            </p:cNvCxnSpPr>
            <p:nvPr/>
          </p:nvCxnSpPr>
          <p:spPr>
            <a:xfrm rot="11303420" flipH="1" flipV="1">
              <a:off x="5858688" y="985309"/>
              <a:ext cx="474623" cy="3217900"/>
            </a:xfrm>
            <a:prstGeom prst="line">
              <a:avLst/>
            </a:prstGeom>
            <a:ln w="76200">
              <a:solidFill>
                <a:srgbClr val="E9E9E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 flipV="1">
              <a:off x="3241127" y="4236312"/>
              <a:ext cx="2864445" cy="1653789"/>
            </a:xfrm>
            <a:prstGeom prst="line">
              <a:avLst/>
            </a:prstGeom>
            <a:ln w="76200">
              <a:solidFill>
                <a:srgbClr val="E9E9E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 rot="16200000">
            <a:off x="8652407" y="3330556"/>
            <a:ext cx="6881113" cy="173779"/>
          </a:xfrm>
          <a:prstGeom prst="rect">
            <a:avLst/>
          </a:prstGeom>
          <a:pattFill prst="ltUpDiag">
            <a:fgClr>
              <a:srgbClr val="2E75B6"/>
            </a:fgClr>
            <a:bgClr>
              <a:srgbClr val="E9E9E9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 userDrawn="1"/>
        </p:nvSpPr>
        <p:spPr>
          <a:xfrm>
            <a:off x="657225" y="364331"/>
            <a:ext cx="1607344" cy="707232"/>
          </a:xfrm>
          <a:custGeom>
            <a:avLst/>
            <a:gdLst>
              <a:gd name="connsiteX0" fmla="*/ 0 w 1607344"/>
              <a:gd name="connsiteY0" fmla="*/ 707232 h 707232"/>
              <a:gd name="connsiteX1" fmla="*/ 0 w 1607344"/>
              <a:gd name="connsiteY1" fmla="*/ 0 h 707232"/>
              <a:gd name="connsiteX2" fmla="*/ 1607344 w 1607344"/>
              <a:gd name="connsiteY2" fmla="*/ 0 h 707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07344" h="707232">
                <a:moveTo>
                  <a:pt x="0" y="707232"/>
                </a:moveTo>
                <a:lnTo>
                  <a:pt x="0" y="0"/>
                </a:lnTo>
                <a:lnTo>
                  <a:pt x="1607344" y="0"/>
                </a:lnTo>
              </a:path>
            </a:pathLst>
          </a:custGeom>
          <a:noFill/>
          <a:ln w="5715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6" name="组合 35"/>
          <p:cNvGrpSpPr/>
          <p:nvPr userDrawn="1"/>
        </p:nvGrpSpPr>
        <p:grpSpPr>
          <a:xfrm rot="919184">
            <a:off x="8321907" y="3137281"/>
            <a:ext cx="5144678" cy="5967820"/>
            <a:chOff x="9070882" y="2865798"/>
            <a:chExt cx="6044162" cy="7011222"/>
          </a:xfrm>
        </p:grpSpPr>
        <p:grpSp>
          <p:nvGrpSpPr>
            <p:cNvPr id="37" name="组合 36"/>
            <p:cNvGrpSpPr/>
            <p:nvPr userDrawn="1"/>
          </p:nvGrpSpPr>
          <p:grpSpPr>
            <a:xfrm rot="14089817" flipH="1">
              <a:off x="8587352" y="3349328"/>
              <a:ext cx="7011222" cy="6044162"/>
              <a:chOff x="3241129" y="967902"/>
              <a:chExt cx="5709753" cy="4922199"/>
            </a:xfrm>
            <a:solidFill>
              <a:srgbClr val="E9E9E9"/>
            </a:solidFill>
          </p:grpSpPr>
          <p:grpSp>
            <p:nvGrpSpPr>
              <p:cNvPr id="46" name="组合 45"/>
              <p:cNvGrpSpPr/>
              <p:nvPr/>
            </p:nvGrpSpPr>
            <p:grpSpPr>
              <a:xfrm>
                <a:off x="3241129" y="967902"/>
                <a:ext cx="5709753" cy="4922199"/>
                <a:chOff x="3241126" y="967902"/>
                <a:chExt cx="5709748" cy="4922199"/>
              </a:xfrm>
              <a:grpFill/>
            </p:grpSpPr>
            <p:sp>
              <p:nvSpPr>
                <p:cNvPr id="49" name="圆角矩形 48"/>
                <p:cNvSpPr/>
                <p:nvPr/>
              </p:nvSpPr>
              <p:spPr>
                <a:xfrm>
                  <a:off x="3241126" y="967902"/>
                  <a:ext cx="5709747" cy="4922196"/>
                </a:xfrm>
                <a:prstGeom prst="roundRect">
                  <a:avLst/>
                </a:prstGeom>
                <a:grpFill/>
                <a:ln w="57150">
                  <a:solidFill>
                    <a:srgbClr val="E9E9E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50" name="直接连接符 49"/>
                <p:cNvCxnSpPr>
                  <a:stCxn id="49" idx="0"/>
                </p:cNvCxnSpPr>
                <p:nvPr/>
              </p:nvCxnSpPr>
              <p:spPr>
                <a:xfrm rot="11303420" flipH="1" flipV="1">
                  <a:off x="5858688" y="985309"/>
                  <a:ext cx="474623" cy="3217900"/>
                </a:xfrm>
                <a:prstGeom prst="line">
                  <a:avLst/>
                </a:prstGeom>
                <a:grpFill/>
                <a:ln w="76200">
                  <a:solidFill>
                    <a:srgbClr val="E9E9E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直接连接符 50"/>
                <p:cNvCxnSpPr/>
                <p:nvPr/>
              </p:nvCxnSpPr>
              <p:spPr>
                <a:xfrm flipH="1" flipV="1">
                  <a:off x="6093606" y="4240456"/>
                  <a:ext cx="2857268" cy="1649645"/>
                </a:xfrm>
                <a:prstGeom prst="line">
                  <a:avLst/>
                </a:prstGeom>
                <a:grpFill/>
                <a:ln w="76200">
                  <a:solidFill>
                    <a:srgbClr val="E9E9E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7" name="等腰三角形 46"/>
              <p:cNvSpPr/>
              <p:nvPr/>
            </p:nvSpPr>
            <p:spPr>
              <a:xfrm>
                <a:off x="5353054" y="4334047"/>
                <a:ext cx="1485901" cy="451940"/>
              </a:xfrm>
              <a:prstGeom prst="triangle">
                <a:avLst/>
              </a:prstGeom>
              <a:grpFill/>
              <a:ln>
                <a:solidFill>
                  <a:srgbClr val="E9E9E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等腰三角形 16"/>
              <p:cNvSpPr/>
              <p:nvPr/>
            </p:nvSpPr>
            <p:spPr>
              <a:xfrm rot="16200000">
                <a:off x="5407214" y="1449360"/>
                <a:ext cx="742950" cy="451940"/>
              </a:xfrm>
              <a:custGeom>
                <a:avLst/>
                <a:gdLst>
                  <a:gd name="connsiteX0" fmla="*/ 0 w 1485900"/>
                  <a:gd name="connsiteY0" fmla="*/ 451940 h 451940"/>
                  <a:gd name="connsiteX1" fmla="*/ 742950 w 1485900"/>
                  <a:gd name="connsiteY1" fmla="*/ 0 h 451940"/>
                  <a:gd name="connsiteX2" fmla="*/ 1485900 w 1485900"/>
                  <a:gd name="connsiteY2" fmla="*/ 451940 h 451940"/>
                  <a:gd name="connsiteX3" fmla="*/ 0 w 1485900"/>
                  <a:gd name="connsiteY3" fmla="*/ 451940 h 451940"/>
                  <a:gd name="connsiteX0-1" fmla="*/ 123324 w 742950"/>
                  <a:gd name="connsiteY0-2" fmla="*/ 432689 h 451940"/>
                  <a:gd name="connsiteX1-3" fmla="*/ 0 w 742950"/>
                  <a:gd name="connsiteY1-4" fmla="*/ 0 h 451940"/>
                  <a:gd name="connsiteX2-5" fmla="*/ 742950 w 742950"/>
                  <a:gd name="connsiteY2-6" fmla="*/ 451940 h 451940"/>
                  <a:gd name="connsiteX3-7" fmla="*/ 123324 w 742950"/>
                  <a:gd name="connsiteY3-8" fmla="*/ 432689 h 45194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742950" h="451940">
                    <a:moveTo>
                      <a:pt x="123324" y="432689"/>
                    </a:moveTo>
                    <a:lnTo>
                      <a:pt x="0" y="0"/>
                    </a:lnTo>
                    <a:lnTo>
                      <a:pt x="742950" y="451940"/>
                    </a:lnTo>
                    <a:lnTo>
                      <a:pt x="123324" y="432689"/>
                    </a:lnTo>
                    <a:close/>
                  </a:path>
                </a:pathLst>
              </a:custGeom>
              <a:grpFill/>
              <a:ln>
                <a:solidFill>
                  <a:srgbClr val="E9E9E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9" name="组合 38"/>
            <p:cNvGrpSpPr/>
            <p:nvPr/>
          </p:nvGrpSpPr>
          <p:grpSpPr>
            <a:xfrm rot="14089817" flipH="1">
              <a:off x="9139305" y="3647795"/>
              <a:ext cx="6105387" cy="5263271"/>
              <a:chOff x="3241126" y="967902"/>
              <a:chExt cx="5709748" cy="4922199"/>
            </a:xfrm>
          </p:grpSpPr>
          <p:sp>
            <p:nvSpPr>
              <p:cNvPr id="42" name="圆角矩形 41"/>
              <p:cNvSpPr/>
              <p:nvPr/>
            </p:nvSpPr>
            <p:spPr>
              <a:xfrm>
                <a:off x="3241126" y="967902"/>
                <a:ext cx="5709747" cy="4922196"/>
              </a:xfrm>
              <a:prstGeom prst="roundRect">
                <a:avLst/>
              </a:prstGeom>
              <a:solidFill>
                <a:srgbClr val="E9E9E9"/>
              </a:solidFill>
              <a:ln w="57150">
                <a:solidFill>
                  <a:srgbClr val="2E75B6">
                    <a:alpha val="4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3" name="直接连接符 42"/>
              <p:cNvCxnSpPr>
                <a:stCxn id="42" idx="0"/>
              </p:cNvCxnSpPr>
              <p:nvPr/>
            </p:nvCxnSpPr>
            <p:spPr>
              <a:xfrm rot="11303420" flipH="1" flipV="1">
                <a:off x="5858688" y="985309"/>
                <a:ext cx="474623" cy="3217900"/>
              </a:xfrm>
              <a:prstGeom prst="line">
                <a:avLst/>
              </a:prstGeom>
              <a:ln w="76200">
                <a:solidFill>
                  <a:srgbClr val="2E75B6">
                    <a:alpha val="43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flipH="1" flipV="1">
                <a:off x="6093606" y="4240456"/>
                <a:ext cx="2857268" cy="1649645"/>
              </a:xfrm>
              <a:prstGeom prst="line">
                <a:avLst/>
              </a:prstGeom>
              <a:ln w="76200">
                <a:solidFill>
                  <a:srgbClr val="2E75B6">
                    <a:alpha val="41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 userDrawn="1"/>
        </p:nvSpPr>
        <p:spPr>
          <a:xfrm>
            <a:off x="657225" y="364331"/>
            <a:ext cx="1607344" cy="707232"/>
          </a:xfrm>
          <a:custGeom>
            <a:avLst/>
            <a:gdLst>
              <a:gd name="connsiteX0" fmla="*/ 0 w 1607344"/>
              <a:gd name="connsiteY0" fmla="*/ 707232 h 707232"/>
              <a:gd name="connsiteX1" fmla="*/ 0 w 1607344"/>
              <a:gd name="connsiteY1" fmla="*/ 0 h 707232"/>
              <a:gd name="connsiteX2" fmla="*/ 1607344 w 1607344"/>
              <a:gd name="connsiteY2" fmla="*/ 0 h 707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07344" h="707232">
                <a:moveTo>
                  <a:pt x="0" y="707232"/>
                </a:moveTo>
                <a:lnTo>
                  <a:pt x="0" y="0"/>
                </a:lnTo>
                <a:lnTo>
                  <a:pt x="1607344" y="0"/>
                </a:lnTo>
              </a:path>
            </a:pathLst>
          </a:custGeom>
          <a:noFill/>
          <a:ln w="5715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-15754" y="1968500"/>
            <a:ext cx="12207754" cy="4889500"/>
          </a:xfrm>
          <a:prstGeom prst="rect">
            <a:avLst/>
          </a:prstGeom>
          <a:pattFill prst="ltUpDiag">
            <a:fgClr>
              <a:srgbClr val="2E75B6"/>
            </a:fgClr>
            <a:bgClr>
              <a:srgbClr val="E9E9E9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 userDrawn="1"/>
        </p:nvSpPr>
        <p:spPr>
          <a:xfrm>
            <a:off x="657225" y="364331"/>
            <a:ext cx="1607344" cy="707232"/>
          </a:xfrm>
          <a:custGeom>
            <a:avLst/>
            <a:gdLst>
              <a:gd name="connsiteX0" fmla="*/ 0 w 1607344"/>
              <a:gd name="connsiteY0" fmla="*/ 707232 h 707232"/>
              <a:gd name="connsiteX1" fmla="*/ 0 w 1607344"/>
              <a:gd name="connsiteY1" fmla="*/ 0 h 707232"/>
              <a:gd name="connsiteX2" fmla="*/ 1607344 w 1607344"/>
              <a:gd name="connsiteY2" fmla="*/ 0 h 707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07344" h="707232">
                <a:moveTo>
                  <a:pt x="0" y="707232"/>
                </a:moveTo>
                <a:lnTo>
                  <a:pt x="0" y="0"/>
                </a:lnTo>
                <a:lnTo>
                  <a:pt x="1607344" y="0"/>
                </a:lnTo>
              </a:path>
            </a:pathLst>
          </a:custGeom>
          <a:noFill/>
          <a:ln w="5715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 rot="20443394" flipH="1">
            <a:off x="10269855" y="6281420"/>
            <a:ext cx="1340485" cy="1155700"/>
            <a:chOff x="3241126" y="967902"/>
            <a:chExt cx="5709748" cy="4922199"/>
          </a:xfrm>
        </p:grpSpPr>
        <p:sp>
          <p:nvSpPr>
            <p:cNvPr id="22" name="圆角矩形 21"/>
            <p:cNvSpPr/>
            <p:nvPr/>
          </p:nvSpPr>
          <p:spPr>
            <a:xfrm>
              <a:off x="3241126" y="967902"/>
              <a:ext cx="5709747" cy="4922196"/>
            </a:xfrm>
            <a:prstGeom prst="roundRect">
              <a:avLst/>
            </a:prstGeom>
            <a:solidFill>
              <a:srgbClr val="E9E9E9"/>
            </a:solidFill>
            <a:ln w="57150">
              <a:solidFill>
                <a:srgbClr val="2E75B6">
                  <a:alpha val="51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" name="直接连接符 22"/>
            <p:cNvCxnSpPr>
              <a:stCxn id="22" idx="0"/>
            </p:cNvCxnSpPr>
            <p:nvPr/>
          </p:nvCxnSpPr>
          <p:spPr>
            <a:xfrm rot="11303420" flipH="1" flipV="1">
              <a:off x="5858688" y="985309"/>
              <a:ext cx="474623" cy="3217900"/>
            </a:xfrm>
            <a:prstGeom prst="line">
              <a:avLst/>
            </a:prstGeom>
            <a:ln w="76200">
              <a:solidFill>
                <a:srgbClr val="2E75B6">
                  <a:alpha val="51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 flipV="1">
              <a:off x="6093606" y="4240456"/>
              <a:ext cx="2857268" cy="1649645"/>
            </a:xfrm>
            <a:prstGeom prst="line">
              <a:avLst/>
            </a:prstGeom>
            <a:ln w="76200">
              <a:solidFill>
                <a:srgbClr val="2E75B6">
                  <a:alpha val="51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V="1">
              <a:off x="3241127" y="4236312"/>
              <a:ext cx="2864445" cy="1653789"/>
            </a:xfrm>
            <a:prstGeom prst="line">
              <a:avLst/>
            </a:prstGeom>
            <a:ln w="76200">
              <a:solidFill>
                <a:srgbClr val="2E75B6">
                  <a:alpha val="51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圆角矩形 15"/>
          <p:cNvSpPr/>
          <p:nvPr/>
        </p:nvSpPr>
        <p:spPr>
          <a:xfrm rot="10112288" flipH="1">
            <a:off x="7888605" y="6370320"/>
            <a:ext cx="2623820" cy="2262505"/>
          </a:xfrm>
          <a:prstGeom prst="roundRect">
            <a:avLst/>
          </a:prstGeom>
          <a:solidFill>
            <a:srgbClr val="E9E9E9"/>
          </a:solidFill>
          <a:ln w="57150">
            <a:solidFill>
              <a:srgbClr val="2E75B6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 rot="15049008" flipH="1">
            <a:off x="10826115" y="5159375"/>
            <a:ext cx="1055370" cy="909955"/>
            <a:chOff x="3241126" y="967902"/>
            <a:chExt cx="5709748" cy="4922199"/>
          </a:xfrm>
        </p:grpSpPr>
        <p:sp>
          <p:nvSpPr>
            <p:cNvPr id="32" name="圆角矩形 31"/>
            <p:cNvSpPr/>
            <p:nvPr/>
          </p:nvSpPr>
          <p:spPr>
            <a:xfrm>
              <a:off x="3241126" y="967902"/>
              <a:ext cx="5709747" cy="4922196"/>
            </a:xfrm>
            <a:prstGeom prst="roundRect">
              <a:avLst/>
            </a:prstGeom>
            <a:solidFill>
              <a:srgbClr val="E9E9E9"/>
            </a:solidFill>
            <a:ln w="57150">
              <a:solidFill>
                <a:srgbClr val="2E75B6">
                  <a:alpha val="4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3" name="直接连接符 32"/>
            <p:cNvCxnSpPr>
              <a:stCxn id="32" idx="0"/>
            </p:cNvCxnSpPr>
            <p:nvPr/>
          </p:nvCxnSpPr>
          <p:spPr>
            <a:xfrm rot="11303420" flipH="1" flipV="1">
              <a:off x="5858688" y="985309"/>
              <a:ext cx="474623" cy="3217900"/>
            </a:xfrm>
            <a:prstGeom prst="line">
              <a:avLst/>
            </a:prstGeom>
            <a:ln w="76200">
              <a:solidFill>
                <a:srgbClr val="2E75B6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 flipV="1">
              <a:off x="6093606" y="4240456"/>
              <a:ext cx="2857268" cy="1649645"/>
            </a:xfrm>
            <a:prstGeom prst="line">
              <a:avLst/>
            </a:prstGeom>
            <a:ln w="76200">
              <a:solidFill>
                <a:srgbClr val="2E75B6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V="1">
              <a:off x="3241127" y="4236312"/>
              <a:ext cx="2864445" cy="1653789"/>
            </a:xfrm>
            <a:prstGeom prst="line">
              <a:avLst/>
            </a:prstGeom>
            <a:ln w="76200">
              <a:solidFill>
                <a:srgbClr val="2E75B6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 rot="10800000" flipH="1">
            <a:off x="3043555" y="889635"/>
            <a:ext cx="6105525" cy="5263515"/>
          </a:xfrm>
          <a:prstGeom prst="roundRect">
            <a:avLst/>
          </a:prstGeom>
          <a:solidFill>
            <a:srgbClr val="E9E9E9"/>
          </a:solidFill>
          <a:ln w="57150">
            <a:solidFill>
              <a:srgbClr val="2E75B6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610CC5C3-DAC7-4F26-B96D-378D7E7886EC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586992C-77E6-45F9-9EB6-5AFA48B5EF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730402" y="2390167"/>
            <a:ext cx="9924628" cy="14591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086327" y="2735020"/>
            <a:ext cx="921277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基于微服务架构的智能物流管理系统</a:t>
            </a:r>
          </a:p>
        </p:txBody>
      </p:sp>
      <p:sp>
        <p:nvSpPr>
          <p:cNvPr id="39" name="矩形 38"/>
          <p:cNvSpPr/>
          <p:nvPr/>
        </p:nvSpPr>
        <p:spPr>
          <a:xfrm>
            <a:off x="9744743" y="4969016"/>
            <a:ext cx="272434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汇报人：付苗</a:t>
            </a:r>
            <a:endParaRPr lang="en-US" altLang="zh-CN" dirty="0">
              <a:solidFill>
                <a:schemeClr val="accent1">
                  <a:lumMod val="75000"/>
                </a:schemeClr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指导老师：牛志华</a:t>
            </a:r>
            <a:endParaRPr lang="en-US" altLang="zh-CN" dirty="0">
              <a:solidFill>
                <a:schemeClr val="accent1">
                  <a:lumMod val="75000"/>
                </a:schemeClr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汇报时间：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2026.03.27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297" y="799354"/>
            <a:ext cx="1433775" cy="1433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1815160" y="1386615"/>
            <a:ext cx="1403350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目录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1808949" y="2319793"/>
            <a:ext cx="24993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01 </a:t>
            </a:r>
            <a:r>
              <a:rPr lang="zh-CN" altLang="en-US" sz="2000" dirty="0">
                <a:solidFill>
                  <a:schemeClr val="bg1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选题背景和意义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792905" y="2848747"/>
            <a:ext cx="15872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02 </a:t>
            </a:r>
            <a:r>
              <a:rPr lang="zh-CN" altLang="en-US" sz="2000" dirty="0">
                <a:solidFill>
                  <a:schemeClr val="bg1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需求分析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1792905" y="3377701"/>
            <a:ext cx="15872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03 </a:t>
            </a:r>
            <a:r>
              <a:rPr lang="zh-CN" altLang="en-US" sz="2000" dirty="0">
                <a:solidFill>
                  <a:schemeClr val="bg1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系统设计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1792905" y="3906655"/>
            <a:ext cx="15872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04 </a:t>
            </a:r>
            <a:r>
              <a:rPr lang="zh-CN" altLang="en-US" sz="2000" dirty="0">
                <a:solidFill>
                  <a:schemeClr val="bg1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功能实现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1792905" y="4435609"/>
            <a:ext cx="15872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05 </a:t>
            </a:r>
            <a:r>
              <a:rPr lang="zh-CN" altLang="en-US" sz="2000" dirty="0">
                <a:solidFill>
                  <a:schemeClr val="bg1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项目亮点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1792905" y="4964563"/>
            <a:ext cx="15872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06 </a:t>
            </a:r>
            <a:r>
              <a:rPr lang="zh-CN" altLang="en-US" sz="2000" dirty="0">
                <a:solidFill>
                  <a:schemeClr val="bg1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功能展示</a:t>
            </a:r>
          </a:p>
        </p:txBody>
      </p:sp>
      <p:cxnSp>
        <p:nvCxnSpPr>
          <p:cNvPr id="47" name="直接连接符 46"/>
          <p:cNvCxnSpPr/>
          <p:nvPr/>
        </p:nvCxnSpPr>
        <p:spPr>
          <a:xfrm>
            <a:off x="1945639" y="2190949"/>
            <a:ext cx="2040467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圆角矩形 1"/>
          <p:cNvSpPr/>
          <p:nvPr/>
        </p:nvSpPr>
        <p:spPr>
          <a:xfrm>
            <a:off x="348615" y="930910"/>
            <a:ext cx="4918710" cy="5567045"/>
          </a:xfrm>
          <a:prstGeom prst="roundRect">
            <a:avLst/>
          </a:prstGeom>
          <a:noFill/>
          <a:ln w="666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B4C9DA1-7DC0-6096-C8AB-D8A96EAE5D8B}"/>
              </a:ext>
            </a:extLst>
          </p:cNvPr>
          <p:cNvSpPr txBox="1"/>
          <p:nvPr/>
        </p:nvSpPr>
        <p:spPr>
          <a:xfrm>
            <a:off x="1815160" y="5460167"/>
            <a:ext cx="15872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07 </a:t>
            </a:r>
            <a:r>
              <a:rPr lang="zh-CN" altLang="en-US" sz="2000" dirty="0">
                <a:solidFill>
                  <a:schemeClr val="bg1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后续计划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74127" y="2557690"/>
            <a:ext cx="5826291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Part One</a:t>
            </a:r>
          </a:p>
          <a:p>
            <a:r>
              <a:rPr lang="zh-CN" altLang="en-US" sz="5400" dirty="0">
                <a:solidFill>
                  <a:schemeClr val="bg1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选题背景和意义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413810" y="2713512"/>
            <a:ext cx="0" cy="1494421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 2"/>
          <p:cNvSpPr/>
          <p:nvPr/>
        </p:nvSpPr>
        <p:spPr>
          <a:xfrm>
            <a:off x="90805" y="1988185"/>
            <a:ext cx="6793230" cy="2743835"/>
          </a:xfrm>
          <a:prstGeom prst="roundRect">
            <a:avLst/>
          </a:prstGeom>
          <a:noFill/>
          <a:ln w="666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74127" y="2557690"/>
            <a:ext cx="5826291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Part Two</a:t>
            </a:r>
          </a:p>
          <a:p>
            <a:r>
              <a:rPr lang="zh-CN" altLang="en-US" sz="5400" dirty="0">
                <a:solidFill>
                  <a:schemeClr val="bg1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需求分析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413810" y="2713512"/>
            <a:ext cx="0" cy="1494421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 2"/>
          <p:cNvSpPr/>
          <p:nvPr/>
        </p:nvSpPr>
        <p:spPr>
          <a:xfrm>
            <a:off x="90805" y="1988185"/>
            <a:ext cx="6793230" cy="2743835"/>
          </a:xfrm>
          <a:prstGeom prst="roundRect">
            <a:avLst/>
          </a:prstGeom>
          <a:noFill/>
          <a:ln w="666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85794" y="402923"/>
            <a:ext cx="86520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u="sng" dirty="0">
                <a:solidFill>
                  <a:srgbClr val="4F7FBD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02</a:t>
            </a:r>
          </a:p>
        </p:txBody>
      </p:sp>
      <p:sp>
        <p:nvSpPr>
          <p:cNvPr id="4" name="矩形 3"/>
          <p:cNvSpPr/>
          <p:nvPr/>
        </p:nvSpPr>
        <p:spPr>
          <a:xfrm>
            <a:off x="1651000" y="433700"/>
            <a:ext cx="25873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Part Two</a:t>
            </a:r>
          </a:p>
          <a:p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需求分析</a:t>
            </a:r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</a:t>
            </a:r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角色信息</a:t>
            </a:r>
          </a:p>
        </p:txBody>
      </p:sp>
      <p:sp>
        <p:nvSpPr>
          <p:cNvPr id="6" name="L 形 5"/>
          <p:cNvSpPr/>
          <p:nvPr/>
        </p:nvSpPr>
        <p:spPr>
          <a:xfrm rot="2686645">
            <a:off x="4431884" y="2077532"/>
            <a:ext cx="1820938" cy="1838258"/>
          </a:xfrm>
          <a:prstGeom prst="corne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2700">
              <a:solidFill>
                <a:prstClr val="white"/>
              </a:solidFill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7" name="L 形 6"/>
          <p:cNvSpPr/>
          <p:nvPr/>
        </p:nvSpPr>
        <p:spPr>
          <a:xfrm rot="8086645">
            <a:off x="5953185" y="2082916"/>
            <a:ext cx="1808999" cy="1772856"/>
          </a:xfrm>
          <a:prstGeom prst="corner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2700">
              <a:solidFill>
                <a:prstClr val="white"/>
              </a:solidFill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8" name="L 形 7"/>
          <p:cNvSpPr/>
          <p:nvPr/>
        </p:nvSpPr>
        <p:spPr>
          <a:xfrm rot="13486645">
            <a:off x="5968158" y="3603286"/>
            <a:ext cx="1819350" cy="1819350"/>
          </a:xfrm>
          <a:prstGeom prst="corne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2700">
              <a:solidFill>
                <a:prstClr val="white"/>
              </a:solidFill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9" name="L 形 8"/>
          <p:cNvSpPr/>
          <p:nvPr/>
        </p:nvSpPr>
        <p:spPr>
          <a:xfrm rot="18886645">
            <a:off x="4439908" y="3641424"/>
            <a:ext cx="1819350" cy="1819350"/>
          </a:xfrm>
          <a:prstGeom prst="corner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2700">
              <a:solidFill>
                <a:prstClr val="white"/>
              </a:solidFill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425671" y="1567508"/>
            <a:ext cx="23906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顾客 </a:t>
            </a:r>
            <a:r>
              <a:rPr lang="en-US" altLang="zh-CN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Customer</a:t>
            </a:r>
            <a:endParaRPr lang="zh-CN" altLang="en-US" sz="2400" b="1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425671" y="2114259"/>
            <a:ext cx="2657993" cy="1029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· </a:t>
            </a:r>
            <a:r>
              <a:rPr lang="zh-CN" altLang="en-US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浏览商城商品、加入购物车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· </a:t>
            </a:r>
            <a:r>
              <a:rPr lang="zh-CN" altLang="en-US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下单、支付、查看订单进度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· </a:t>
            </a:r>
            <a:r>
              <a:rPr lang="zh-CN" altLang="en-US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查看配送路径</a:t>
            </a:r>
            <a:endParaRPr lang="en-US" altLang="zh-CN" sz="12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· </a:t>
            </a:r>
            <a:r>
              <a:rPr lang="zh-CN" altLang="en-US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管理收货地址</a:t>
            </a:r>
          </a:p>
        </p:txBody>
      </p:sp>
      <p:sp>
        <p:nvSpPr>
          <p:cNvPr id="21" name="矩形 20"/>
          <p:cNvSpPr/>
          <p:nvPr/>
        </p:nvSpPr>
        <p:spPr>
          <a:xfrm>
            <a:off x="8425671" y="3903000"/>
            <a:ext cx="18414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司机 </a:t>
            </a:r>
            <a:r>
              <a:rPr lang="en-US" altLang="zh-CN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Driver</a:t>
            </a:r>
            <a:endParaRPr lang="zh-CN" altLang="en-US" sz="2400" b="1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425671" y="4512961"/>
            <a:ext cx="2657993" cy="1029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· </a:t>
            </a:r>
            <a:r>
              <a:rPr lang="zh-CN" altLang="en-US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接收配送任务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· </a:t>
            </a:r>
            <a:r>
              <a:rPr lang="zh-CN" altLang="en-US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实时上报 </a:t>
            </a:r>
            <a:r>
              <a:rPr lang="en-US" altLang="zh-CN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GPS </a:t>
            </a:r>
            <a:r>
              <a:rPr lang="zh-CN" altLang="en-US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位置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· </a:t>
            </a:r>
            <a:r>
              <a:rPr lang="zh-CN" altLang="en-US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查看系统规划路线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· </a:t>
            </a:r>
            <a:r>
              <a:rPr lang="zh-CN" altLang="en-US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管理绑定车辆信息</a:t>
            </a:r>
          </a:p>
        </p:txBody>
      </p:sp>
      <p:sp>
        <p:nvSpPr>
          <p:cNvPr id="23" name="矩形 22"/>
          <p:cNvSpPr/>
          <p:nvPr/>
        </p:nvSpPr>
        <p:spPr>
          <a:xfrm>
            <a:off x="1242660" y="1567508"/>
            <a:ext cx="22284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管理员 </a:t>
            </a:r>
            <a:r>
              <a:rPr lang="en-US" altLang="zh-CN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Admin</a:t>
            </a:r>
            <a:endParaRPr lang="zh-CN" altLang="en-US" sz="2400" b="1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242660" y="2108444"/>
            <a:ext cx="3192286" cy="1029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· </a:t>
            </a:r>
            <a:r>
              <a:rPr lang="zh-CN" altLang="en-US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检测系统整体情况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· </a:t>
            </a:r>
            <a:r>
              <a:rPr lang="zh-CN" altLang="en-US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管理所有用户账号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· </a:t>
            </a:r>
            <a:r>
              <a:rPr lang="zh-CN" altLang="en-US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监控全部订单状态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· </a:t>
            </a:r>
            <a:r>
              <a:rPr lang="zh-CN" altLang="en-US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管理仓库信息</a:t>
            </a:r>
          </a:p>
        </p:txBody>
      </p:sp>
      <p:sp>
        <p:nvSpPr>
          <p:cNvPr id="25" name="矩形 24"/>
          <p:cNvSpPr/>
          <p:nvPr/>
        </p:nvSpPr>
        <p:spPr>
          <a:xfrm>
            <a:off x="1515171" y="3903000"/>
            <a:ext cx="16834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商家 </a:t>
            </a:r>
            <a:r>
              <a:rPr lang="en-US" altLang="zh-CN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Shop</a:t>
            </a:r>
            <a:endParaRPr lang="zh-CN" altLang="en-US" sz="2400" b="1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242660" y="4455564"/>
            <a:ext cx="2657993" cy="1029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· </a:t>
            </a:r>
            <a:r>
              <a:rPr lang="zh-CN" altLang="en-US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管理店铺信息与商品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· </a:t>
            </a:r>
            <a:r>
              <a:rPr lang="zh-CN" altLang="en-US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管理仓库与库存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· </a:t>
            </a:r>
            <a:r>
              <a:rPr lang="zh-CN" altLang="en-US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处理订单发货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· </a:t>
            </a:r>
            <a:r>
              <a:rPr lang="zh-CN" altLang="en-US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查看店铺营收数据（后续开发）</a:t>
            </a:r>
          </a:p>
        </p:txBody>
      </p:sp>
      <p:pic>
        <p:nvPicPr>
          <p:cNvPr id="5" name="图形 4" descr="层次结构">
            <a:extLst>
              <a:ext uri="{FF2B5EF4-FFF2-40B4-BE49-F238E27FC236}">
                <a16:creationId xmlns:a16="http://schemas.microsoft.com/office/drawing/2014/main" id="{DEDC344E-8D42-40CB-9467-39B889FF9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45803" y="2458196"/>
            <a:ext cx="914400" cy="914400"/>
          </a:xfrm>
          <a:prstGeom prst="rect">
            <a:avLst/>
          </a:prstGeom>
        </p:spPr>
      </p:pic>
      <p:pic>
        <p:nvPicPr>
          <p:cNvPr id="13" name="图形 12" descr="应用商店">
            <a:extLst>
              <a:ext uri="{FF2B5EF4-FFF2-40B4-BE49-F238E27FC236}">
                <a16:creationId xmlns:a16="http://schemas.microsoft.com/office/drawing/2014/main" id="{F06E4680-5FA5-430E-AD9A-47DB2A7241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2795" y="4546861"/>
            <a:ext cx="914400" cy="914400"/>
          </a:xfrm>
          <a:prstGeom prst="rect">
            <a:avLst/>
          </a:prstGeom>
        </p:spPr>
      </p:pic>
      <p:pic>
        <p:nvPicPr>
          <p:cNvPr id="27" name="图形 26" descr="卡车">
            <a:extLst>
              <a:ext uri="{FF2B5EF4-FFF2-40B4-BE49-F238E27FC236}">
                <a16:creationId xmlns:a16="http://schemas.microsoft.com/office/drawing/2014/main" id="{A5FEE90C-BCE7-4468-BE0C-DEA5416D5C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8519" y="4055761"/>
            <a:ext cx="914400" cy="914400"/>
          </a:xfrm>
          <a:prstGeom prst="rect">
            <a:avLst/>
          </a:prstGeom>
        </p:spPr>
      </p:pic>
      <p:pic>
        <p:nvPicPr>
          <p:cNvPr id="29" name="图形 28" descr="用户">
            <a:extLst>
              <a:ext uri="{FF2B5EF4-FFF2-40B4-BE49-F238E27FC236}">
                <a16:creationId xmlns:a16="http://schemas.microsoft.com/office/drawing/2014/main" id="{DB27FAF8-C213-4A2D-9E5C-99BDB19C19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0484" y="198844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916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85794" y="402923"/>
            <a:ext cx="86520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u="sng" dirty="0">
                <a:solidFill>
                  <a:srgbClr val="4F7FBD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02</a:t>
            </a:r>
          </a:p>
        </p:txBody>
      </p:sp>
      <p:sp>
        <p:nvSpPr>
          <p:cNvPr id="3" name="矩形 2"/>
          <p:cNvSpPr/>
          <p:nvPr/>
        </p:nvSpPr>
        <p:spPr>
          <a:xfrm>
            <a:off x="1651000" y="433700"/>
            <a:ext cx="261725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Part Two</a:t>
            </a:r>
          </a:p>
          <a:p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需求分析</a:t>
            </a:r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</a:t>
            </a:r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业务流程</a:t>
            </a:r>
          </a:p>
        </p:txBody>
      </p:sp>
      <p:sp>
        <p:nvSpPr>
          <p:cNvPr id="5" name="矩形 4"/>
          <p:cNvSpPr/>
          <p:nvPr/>
        </p:nvSpPr>
        <p:spPr>
          <a:xfrm flipV="1">
            <a:off x="371475" y="3344333"/>
            <a:ext cx="11178842" cy="169334"/>
          </a:xfrm>
          <a:prstGeom prst="rect">
            <a:avLst/>
          </a:prstGeom>
          <a:pattFill prst="ltUpDiag">
            <a:fgClr>
              <a:srgbClr val="2E75B6"/>
            </a:fgClr>
            <a:bgClr>
              <a:srgbClr val="E9E9E9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6" name="等腰三角形 5"/>
          <p:cNvSpPr/>
          <p:nvPr/>
        </p:nvSpPr>
        <p:spPr>
          <a:xfrm rot="5400000">
            <a:off x="11432973" y="3238825"/>
            <a:ext cx="321728" cy="380352"/>
          </a:xfrm>
          <a:prstGeom prst="triangle">
            <a:avLst>
              <a:gd name="adj" fmla="val 52478"/>
            </a:avLst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400787" y="3238825"/>
            <a:ext cx="321728" cy="380352"/>
          </a:xfrm>
          <a:prstGeom prst="triangle">
            <a:avLst>
              <a:gd name="adj" fmla="val 52478"/>
            </a:avLst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 rot="5400000">
            <a:off x="1333500" y="3238500"/>
            <a:ext cx="321728" cy="380352"/>
          </a:xfrm>
          <a:prstGeom prst="triangle">
            <a:avLst>
              <a:gd name="adj" fmla="val 52478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9" name="等腰三角形 8"/>
          <p:cNvSpPr/>
          <p:nvPr/>
        </p:nvSpPr>
        <p:spPr>
          <a:xfrm rot="5400000">
            <a:off x="2260600" y="3238500"/>
            <a:ext cx="321728" cy="380352"/>
          </a:xfrm>
          <a:prstGeom prst="triangle">
            <a:avLst>
              <a:gd name="adj" fmla="val 52478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10" name="等腰三角形 9"/>
          <p:cNvSpPr/>
          <p:nvPr/>
        </p:nvSpPr>
        <p:spPr>
          <a:xfrm rot="5400000">
            <a:off x="3187700" y="3238500"/>
            <a:ext cx="321728" cy="380352"/>
          </a:xfrm>
          <a:prstGeom prst="triangle">
            <a:avLst>
              <a:gd name="adj" fmla="val 52478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11" name="等腰三角形 10"/>
          <p:cNvSpPr/>
          <p:nvPr/>
        </p:nvSpPr>
        <p:spPr>
          <a:xfrm rot="5400000">
            <a:off x="4114800" y="3238500"/>
            <a:ext cx="321728" cy="380352"/>
          </a:xfrm>
          <a:prstGeom prst="triangle">
            <a:avLst>
              <a:gd name="adj" fmla="val 52478"/>
            </a:avLst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12" name="等腰三角形 11"/>
          <p:cNvSpPr/>
          <p:nvPr/>
        </p:nvSpPr>
        <p:spPr>
          <a:xfrm rot="5400000">
            <a:off x="5041900" y="3238500"/>
            <a:ext cx="321728" cy="380352"/>
          </a:xfrm>
          <a:prstGeom prst="triangle">
            <a:avLst>
              <a:gd name="adj" fmla="val 52478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13" name="等腰三角形 12"/>
          <p:cNvSpPr/>
          <p:nvPr/>
        </p:nvSpPr>
        <p:spPr>
          <a:xfrm rot="5400000">
            <a:off x="5969000" y="3238500"/>
            <a:ext cx="321728" cy="380352"/>
          </a:xfrm>
          <a:prstGeom prst="triangle">
            <a:avLst>
              <a:gd name="adj" fmla="val 52478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14" name="等腰三角形 13"/>
          <p:cNvSpPr/>
          <p:nvPr/>
        </p:nvSpPr>
        <p:spPr>
          <a:xfrm rot="5400000">
            <a:off x="6896100" y="3238500"/>
            <a:ext cx="321728" cy="380352"/>
          </a:xfrm>
          <a:prstGeom prst="triangle">
            <a:avLst>
              <a:gd name="adj" fmla="val 52478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15" name="等腰三角形 14"/>
          <p:cNvSpPr/>
          <p:nvPr/>
        </p:nvSpPr>
        <p:spPr>
          <a:xfrm rot="5400000">
            <a:off x="7823200" y="3238500"/>
            <a:ext cx="321728" cy="380352"/>
          </a:xfrm>
          <a:prstGeom prst="triangle">
            <a:avLst>
              <a:gd name="adj" fmla="val 52478"/>
            </a:avLst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16" name="等腰三角形 15"/>
          <p:cNvSpPr/>
          <p:nvPr/>
        </p:nvSpPr>
        <p:spPr>
          <a:xfrm rot="5400000">
            <a:off x="8750300" y="3238500"/>
            <a:ext cx="321728" cy="380352"/>
          </a:xfrm>
          <a:prstGeom prst="triangle">
            <a:avLst>
              <a:gd name="adj" fmla="val 52478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17" name="等腰三角形 16"/>
          <p:cNvSpPr/>
          <p:nvPr/>
        </p:nvSpPr>
        <p:spPr>
          <a:xfrm rot="5400000">
            <a:off x="9677400" y="3238500"/>
            <a:ext cx="321728" cy="380352"/>
          </a:xfrm>
          <a:prstGeom prst="triangle">
            <a:avLst>
              <a:gd name="adj" fmla="val 52478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18" name="等腰三角形 17"/>
          <p:cNvSpPr/>
          <p:nvPr/>
        </p:nvSpPr>
        <p:spPr>
          <a:xfrm rot="5400000">
            <a:off x="10604500" y="3238500"/>
            <a:ext cx="321728" cy="380352"/>
          </a:xfrm>
          <a:prstGeom prst="triangle">
            <a:avLst>
              <a:gd name="adj" fmla="val 52478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cxnSp>
        <p:nvCxnSpPr>
          <p:cNvPr id="21" name="直接连接符 20"/>
          <p:cNvCxnSpPr>
            <a:cxnSpLocks/>
          </p:cNvCxnSpPr>
          <p:nvPr/>
        </p:nvCxnSpPr>
        <p:spPr>
          <a:xfrm>
            <a:off x="371475" y="4004732"/>
            <a:ext cx="0" cy="550826"/>
          </a:xfrm>
          <a:prstGeom prst="line">
            <a:avLst/>
          </a:prstGeom>
          <a:ln w="76200">
            <a:solidFill>
              <a:srgbClr val="2E75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371221" y="2128217"/>
            <a:ext cx="124822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顾客下单</a:t>
            </a:r>
          </a:p>
        </p:txBody>
      </p:sp>
      <p:sp>
        <p:nvSpPr>
          <p:cNvPr id="24" name="矩形 23"/>
          <p:cNvSpPr/>
          <p:nvPr/>
        </p:nvSpPr>
        <p:spPr>
          <a:xfrm>
            <a:off x="472250" y="4044521"/>
            <a:ext cx="2617259" cy="5110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系统内生成订单信息</a:t>
            </a:r>
            <a:endParaRPr lang="en-US" altLang="zh-CN" sz="11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订单状态：待支付</a:t>
            </a:r>
            <a:r>
              <a:rPr lang="en-US" altLang="zh-CN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/</a:t>
            </a:r>
            <a:r>
              <a:rPr lang="zh-CN" altLang="en-US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代发货 </a:t>
            </a:r>
            <a:r>
              <a:rPr lang="en-US" altLang="zh-CN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– 0/1</a:t>
            </a:r>
            <a:endParaRPr lang="zh-CN" altLang="en-US" sz="11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955647" y="2128217"/>
            <a:ext cx="13074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商家发货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AAFB70F-1F22-4B29-8DEE-640A2EB64383}"/>
              </a:ext>
            </a:extLst>
          </p:cNvPr>
          <p:cNvSpPr/>
          <p:nvPr/>
        </p:nvSpPr>
        <p:spPr>
          <a:xfrm>
            <a:off x="7603712" y="2128217"/>
            <a:ext cx="13074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司机接单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829EEEB-8997-4A36-AD2C-55D9EAE76688}"/>
              </a:ext>
            </a:extLst>
          </p:cNvPr>
          <p:cNvSpPr/>
          <p:nvPr/>
        </p:nvSpPr>
        <p:spPr>
          <a:xfrm>
            <a:off x="10884548" y="2128217"/>
            <a:ext cx="13074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确认送达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FD55C4B-78D7-409B-A0EC-0E92CDA29E98}"/>
              </a:ext>
            </a:extLst>
          </p:cNvPr>
          <p:cNvCxnSpPr>
            <a:cxnSpLocks/>
          </p:cNvCxnSpPr>
          <p:nvPr/>
        </p:nvCxnSpPr>
        <p:spPr>
          <a:xfrm>
            <a:off x="3983535" y="4004732"/>
            <a:ext cx="0" cy="550826"/>
          </a:xfrm>
          <a:prstGeom prst="line">
            <a:avLst/>
          </a:prstGeom>
          <a:ln w="76200">
            <a:solidFill>
              <a:srgbClr val="2E75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D4DC7BD4-AEC7-4B14-815E-DC9C5BD2ECB9}"/>
              </a:ext>
            </a:extLst>
          </p:cNvPr>
          <p:cNvSpPr/>
          <p:nvPr/>
        </p:nvSpPr>
        <p:spPr>
          <a:xfrm>
            <a:off x="4084310" y="4044521"/>
            <a:ext cx="2617259" cy="5110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根据商家选择发货仓库，生成物流路线</a:t>
            </a:r>
            <a:endParaRPr lang="en-US" altLang="zh-CN" sz="11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订单状态：待揽件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C029B2BE-FD42-4133-B159-C76501757EDF}"/>
              </a:ext>
            </a:extLst>
          </p:cNvPr>
          <p:cNvCxnSpPr>
            <a:cxnSpLocks/>
          </p:cNvCxnSpPr>
          <p:nvPr/>
        </p:nvCxnSpPr>
        <p:spPr>
          <a:xfrm>
            <a:off x="7691935" y="4004732"/>
            <a:ext cx="0" cy="550826"/>
          </a:xfrm>
          <a:prstGeom prst="line">
            <a:avLst/>
          </a:prstGeom>
          <a:ln w="76200">
            <a:solidFill>
              <a:srgbClr val="2E75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50CB937A-A69A-4847-9491-0E01C2479B7F}"/>
              </a:ext>
            </a:extLst>
          </p:cNvPr>
          <p:cNvSpPr/>
          <p:nvPr/>
        </p:nvSpPr>
        <p:spPr>
          <a:xfrm>
            <a:off x="7792710" y="4044521"/>
            <a:ext cx="2617259" cy="5110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司机实时上报轨迹路线，订单中可查询</a:t>
            </a:r>
            <a:endParaRPr lang="en-US" altLang="zh-CN" sz="11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订单状态：派送中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1FD55C4B-78D7-409B-A0EC-0E92CDA29E98}"/>
              </a:ext>
            </a:extLst>
          </p:cNvPr>
          <p:cNvCxnSpPr>
            <a:cxnSpLocks/>
          </p:cNvCxnSpPr>
          <p:nvPr/>
        </p:nvCxnSpPr>
        <p:spPr>
          <a:xfrm>
            <a:off x="10774632" y="4004732"/>
            <a:ext cx="0" cy="550826"/>
          </a:xfrm>
          <a:prstGeom prst="line">
            <a:avLst/>
          </a:prstGeom>
          <a:ln w="76200">
            <a:solidFill>
              <a:srgbClr val="2E75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D4DC7BD4-AEC7-4B14-815E-DC9C5BD2ECB9}"/>
              </a:ext>
            </a:extLst>
          </p:cNvPr>
          <p:cNvSpPr/>
          <p:nvPr/>
        </p:nvSpPr>
        <p:spPr>
          <a:xfrm>
            <a:off x="10875407" y="4044521"/>
            <a:ext cx="2617259" cy="2909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订单状态：已完成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74127" y="2557690"/>
            <a:ext cx="5826291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Part Three</a:t>
            </a:r>
          </a:p>
          <a:p>
            <a:r>
              <a:rPr lang="zh-CN" altLang="en-US" sz="5400" dirty="0">
                <a:solidFill>
                  <a:schemeClr val="bg1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系统设计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413810" y="2713512"/>
            <a:ext cx="0" cy="1494421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 2"/>
          <p:cNvSpPr/>
          <p:nvPr/>
        </p:nvSpPr>
        <p:spPr>
          <a:xfrm>
            <a:off x="90805" y="1988185"/>
            <a:ext cx="6793230" cy="2743835"/>
          </a:xfrm>
          <a:prstGeom prst="roundRect">
            <a:avLst/>
          </a:prstGeom>
          <a:noFill/>
          <a:ln w="666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85794" y="402923"/>
            <a:ext cx="86520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u="sng" dirty="0">
                <a:solidFill>
                  <a:srgbClr val="4F7FBD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03</a:t>
            </a:r>
          </a:p>
        </p:txBody>
      </p:sp>
      <p:sp>
        <p:nvSpPr>
          <p:cNvPr id="4" name="矩形 3"/>
          <p:cNvSpPr/>
          <p:nvPr/>
        </p:nvSpPr>
        <p:spPr>
          <a:xfrm>
            <a:off x="1651000" y="433700"/>
            <a:ext cx="24161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Part Three</a:t>
            </a:r>
          </a:p>
          <a:p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系统设计</a:t>
            </a:r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</a:t>
            </a:r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整体架构</a:t>
            </a: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656542" y="5895676"/>
            <a:ext cx="11109855" cy="0"/>
          </a:xfrm>
          <a:prstGeom prst="line">
            <a:avLst/>
          </a:prstGeom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656542" y="5895676"/>
            <a:ext cx="11109855" cy="308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当前服务间通信使用</a:t>
            </a:r>
            <a:r>
              <a:rPr lang="en-US" altLang="zh-CN" sz="1200" dirty="0" err="1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OpenFeign</a:t>
            </a:r>
            <a:r>
              <a:rPr lang="zh-CN" altLang="en-US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，预计</a:t>
            </a:r>
            <a:r>
              <a:rPr lang="en-US" altLang="zh-CN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</a:t>
            </a:r>
            <a:r>
              <a:rPr lang="zh-CN" altLang="en-US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后续扩展为</a:t>
            </a:r>
            <a:r>
              <a:rPr lang="en-US" altLang="zh-CN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RabbitMQ</a:t>
            </a:r>
            <a:r>
              <a:rPr lang="zh-CN" altLang="en-US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，并组合使用</a:t>
            </a:r>
            <a:r>
              <a:rPr lang="en-US" altLang="zh-CN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Redis</a:t>
            </a:r>
            <a:r>
              <a:rPr lang="zh-CN" altLang="en-US" sz="12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做系统缓存。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89D514A-4B56-4090-8228-C94FABB10599}"/>
              </a:ext>
            </a:extLst>
          </p:cNvPr>
          <p:cNvSpPr/>
          <p:nvPr/>
        </p:nvSpPr>
        <p:spPr>
          <a:xfrm>
            <a:off x="4501146" y="1109678"/>
            <a:ext cx="3189707" cy="8451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前端 </a:t>
            </a:r>
            <a:r>
              <a:rPr lang="en-US" altLang="zh-CN" dirty="0"/>
              <a:t>Vue </a:t>
            </a:r>
            <a:r>
              <a:rPr lang="zh-CN" altLang="en-US" dirty="0"/>
              <a:t>端口</a:t>
            </a:r>
            <a:r>
              <a:rPr lang="en-US" altLang="zh-CN" dirty="0"/>
              <a:t>:5173</a:t>
            </a:r>
          </a:p>
          <a:p>
            <a:pPr algn="ctr"/>
            <a:r>
              <a:rPr lang="zh-CN" altLang="en-US" sz="1400" dirty="0"/>
              <a:t>管理端 </a:t>
            </a:r>
            <a:r>
              <a:rPr lang="en-US" altLang="zh-CN" sz="1400" dirty="0"/>
              <a:t>/ </a:t>
            </a:r>
            <a:r>
              <a:rPr lang="zh-CN" altLang="en-US" sz="1400" dirty="0"/>
              <a:t>顾客端 </a:t>
            </a:r>
            <a:r>
              <a:rPr lang="en-US" altLang="zh-CN" sz="1400" dirty="0"/>
              <a:t>/ </a:t>
            </a:r>
            <a:r>
              <a:rPr lang="zh-CN" altLang="en-US" sz="1400" dirty="0"/>
              <a:t>商家端 </a:t>
            </a:r>
            <a:r>
              <a:rPr lang="en-US" altLang="zh-CN" sz="1400" dirty="0"/>
              <a:t>/ </a:t>
            </a:r>
            <a:r>
              <a:rPr lang="zh-CN" altLang="en-US" sz="1400" dirty="0"/>
              <a:t>司机端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2F7D305-882E-463C-A8C2-55C73E88E2FA}"/>
              </a:ext>
            </a:extLst>
          </p:cNvPr>
          <p:cNvCxnSpPr>
            <a:stCxn id="6" idx="2"/>
          </p:cNvCxnSpPr>
          <p:nvPr/>
        </p:nvCxnSpPr>
        <p:spPr>
          <a:xfrm>
            <a:off x="6096000" y="1954850"/>
            <a:ext cx="0" cy="493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CA5BB39C-E4D3-4F8E-B263-AFDC72D19545}"/>
              </a:ext>
            </a:extLst>
          </p:cNvPr>
          <p:cNvSpPr/>
          <p:nvPr/>
        </p:nvSpPr>
        <p:spPr>
          <a:xfrm>
            <a:off x="4501145" y="2446160"/>
            <a:ext cx="3189707" cy="8451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API </a:t>
            </a:r>
            <a:r>
              <a:rPr lang="zh-CN" altLang="en-US" dirty="0"/>
              <a:t>网关 </a:t>
            </a:r>
            <a:r>
              <a:rPr lang="en-US" altLang="zh-CN" dirty="0"/>
              <a:t>Gateway</a:t>
            </a:r>
            <a:r>
              <a:rPr lang="zh-CN" altLang="en-US" dirty="0"/>
              <a:t>（</a:t>
            </a:r>
            <a:r>
              <a:rPr lang="en-US" altLang="zh-CN" dirty="0"/>
              <a:t>8081</a:t>
            </a:r>
            <a:r>
              <a:rPr lang="zh-CN" altLang="en-US" dirty="0"/>
              <a:t>）    </a:t>
            </a:r>
            <a:r>
              <a:rPr lang="en-US" altLang="zh-CN" sz="1400" dirty="0"/>
              <a:t>JWT </a:t>
            </a:r>
            <a:r>
              <a:rPr lang="zh-CN" altLang="en-US" sz="1400" dirty="0"/>
              <a:t>鉴权 </a:t>
            </a:r>
            <a:r>
              <a:rPr lang="en-US" altLang="zh-CN" sz="1400" dirty="0"/>
              <a:t>+ </a:t>
            </a:r>
            <a:r>
              <a:rPr lang="zh-CN" altLang="en-US" sz="1400" dirty="0"/>
              <a:t>路由转发 </a:t>
            </a:r>
            <a:r>
              <a:rPr lang="en-US" altLang="zh-CN" sz="1400" dirty="0"/>
              <a:t>+ CORS </a:t>
            </a:r>
            <a:endParaRPr lang="zh-CN" altLang="en-US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1C2652C-4616-6A1D-695C-BC7223FA09BE}"/>
              </a:ext>
            </a:extLst>
          </p:cNvPr>
          <p:cNvSpPr/>
          <p:nvPr/>
        </p:nvSpPr>
        <p:spPr>
          <a:xfrm>
            <a:off x="2473764" y="3782643"/>
            <a:ext cx="851327" cy="9051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认证服务</a:t>
            </a:r>
            <a:endParaRPr lang="en-US" altLang="zh-CN" sz="1200" dirty="0"/>
          </a:p>
          <a:p>
            <a:pPr algn="ctr"/>
            <a:r>
              <a:rPr lang="en-US" altLang="zh-CN" sz="1200" dirty="0"/>
              <a:t>Auth</a:t>
            </a:r>
          </a:p>
          <a:p>
            <a:pPr algn="ctr"/>
            <a:r>
              <a:rPr lang="zh-CN" altLang="en-US" sz="1200" dirty="0"/>
              <a:t>（</a:t>
            </a:r>
            <a:r>
              <a:rPr lang="en-US" altLang="zh-CN" sz="1200" dirty="0"/>
              <a:t>8082</a:t>
            </a:r>
            <a:r>
              <a:rPr lang="zh-CN" altLang="en-US" sz="1200" dirty="0"/>
              <a:t>）</a:t>
            </a:r>
            <a:endParaRPr lang="en-US" altLang="zh-CN" sz="12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525CD31-5C2E-DE22-AB30-C781E45ACBCC}"/>
              </a:ext>
            </a:extLst>
          </p:cNvPr>
          <p:cNvSpPr/>
          <p:nvPr/>
        </p:nvSpPr>
        <p:spPr>
          <a:xfrm>
            <a:off x="3751557" y="3782643"/>
            <a:ext cx="851327" cy="9051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顾客服务</a:t>
            </a:r>
            <a:endParaRPr lang="en-US" altLang="zh-CN" sz="1200" dirty="0"/>
          </a:p>
          <a:p>
            <a:pPr algn="ctr"/>
            <a:r>
              <a:rPr lang="en-US" altLang="zh-CN" sz="1100" dirty="0"/>
              <a:t>Customer</a:t>
            </a:r>
          </a:p>
          <a:p>
            <a:pPr algn="ctr"/>
            <a:r>
              <a:rPr lang="zh-CN" altLang="en-US" sz="1200" dirty="0"/>
              <a:t>（</a:t>
            </a:r>
            <a:r>
              <a:rPr lang="en-US" altLang="zh-CN" sz="1200" dirty="0"/>
              <a:t>8083</a:t>
            </a:r>
            <a:r>
              <a:rPr lang="zh-CN" altLang="en-US" sz="1200" dirty="0"/>
              <a:t>）</a:t>
            </a:r>
            <a:endParaRPr lang="en-US" altLang="zh-CN" sz="12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1C2652C-4616-6A1D-695C-BC7223FA09BE}"/>
              </a:ext>
            </a:extLst>
          </p:cNvPr>
          <p:cNvSpPr/>
          <p:nvPr/>
        </p:nvSpPr>
        <p:spPr>
          <a:xfrm>
            <a:off x="5036855" y="3782642"/>
            <a:ext cx="851327" cy="9051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dirty="0"/>
              <a:t>商铺服务</a:t>
            </a:r>
            <a:endParaRPr lang="en-US" altLang="zh-CN" sz="1200" dirty="0"/>
          </a:p>
          <a:p>
            <a:pPr algn="ctr"/>
            <a:r>
              <a:rPr lang="en-US" altLang="zh-CN" sz="1200" dirty="0"/>
              <a:t>Shop</a:t>
            </a:r>
          </a:p>
          <a:p>
            <a:pPr algn="ctr"/>
            <a:r>
              <a:rPr lang="zh-CN" altLang="en-US" sz="1200" dirty="0"/>
              <a:t>（</a:t>
            </a:r>
            <a:r>
              <a:rPr lang="en-US" altLang="zh-CN" sz="1200" dirty="0"/>
              <a:t>8084</a:t>
            </a:r>
            <a:r>
              <a:rPr lang="zh-CN" altLang="en-US" sz="1200" dirty="0"/>
              <a:t>）</a:t>
            </a:r>
            <a:endParaRPr lang="en-US" altLang="zh-CN" sz="12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1C2652C-4616-6A1D-695C-BC7223FA09BE}"/>
              </a:ext>
            </a:extLst>
          </p:cNvPr>
          <p:cNvSpPr/>
          <p:nvPr/>
        </p:nvSpPr>
        <p:spPr>
          <a:xfrm>
            <a:off x="6322153" y="3782643"/>
            <a:ext cx="851327" cy="9051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dirty="0"/>
              <a:t>订单服务</a:t>
            </a:r>
            <a:endParaRPr lang="en-US" altLang="zh-CN" sz="1200" dirty="0"/>
          </a:p>
          <a:p>
            <a:pPr algn="ctr"/>
            <a:r>
              <a:rPr lang="en-US" altLang="zh-CN" sz="1200" dirty="0"/>
              <a:t>Order</a:t>
            </a:r>
          </a:p>
          <a:p>
            <a:pPr algn="ctr"/>
            <a:r>
              <a:rPr lang="zh-CN" altLang="en-US" sz="1200" dirty="0"/>
              <a:t>（</a:t>
            </a:r>
            <a:r>
              <a:rPr lang="en-US" altLang="zh-CN" sz="1200" dirty="0"/>
              <a:t>8085</a:t>
            </a:r>
            <a:r>
              <a:rPr lang="zh-CN" altLang="en-US" sz="1200" dirty="0"/>
              <a:t>）</a:t>
            </a:r>
            <a:endParaRPr lang="en-US" altLang="zh-CN" sz="12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C2652C-4616-6A1D-695C-BC7223FA09BE}"/>
              </a:ext>
            </a:extLst>
          </p:cNvPr>
          <p:cNvSpPr/>
          <p:nvPr/>
        </p:nvSpPr>
        <p:spPr>
          <a:xfrm>
            <a:off x="7607451" y="3782643"/>
            <a:ext cx="851327" cy="9051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dirty="0"/>
              <a:t>货运服务</a:t>
            </a:r>
            <a:endParaRPr lang="en-US" altLang="zh-CN" sz="1200" dirty="0"/>
          </a:p>
          <a:p>
            <a:pPr algn="ctr"/>
            <a:r>
              <a:rPr lang="en-US" altLang="zh-CN" sz="1200" dirty="0"/>
              <a:t>Driver</a:t>
            </a:r>
          </a:p>
          <a:p>
            <a:pPr algn="ctr"/>
            <a:r>
              <a:rPr lang="zh-CN" altLang="en-US" sz="1200" dirty="0"/>
              <a:t>（</a:t>
            </a:r>
            <a:r>
              <a:rPr lang="en-US" altLang="zh-CN" sz="1200" dirty="0"/>
              <a:t>8086</a:t>
            </a:r>
            <a:r>
              <a:rPr lang="zh-CN" altLang="en-US" sz="1200" dirty="0"/>
              <a:t>）</a:t>
            </a:r>
            <a:endParaRPr lang="en-US" altLang="zh-CN" sz="12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1C2652C-4616-6A1D-695C-BC7223FA09BE}"/>
              </a:ext>
            </a:extLst>
          </p:cNvPr>
          <p:cNvSpPr/>
          <p:nvPr/>
        </p:nvSpPr>
        <p:spPr>
          <a:xfrm>
            <a:off x="8892749" y="3782643"/>
            <a:ext cx="851327" cy="9051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dirty="0"/>
              <a:t>物流服务</a:t>
            </a:r>
            <a:endParaRPr lang="en-US" altLang="zh-CN" sz="1200" dirty="0"/>
          </a:p>
          <a:p>
            <a:pPr algn="ctr"/>
            <a:r>
              <a:rPr lang="en-US" altLang="zh-CN" sz="1200" dirty="0"/>
              <a:t>Logistics</a:t>
            </a:r>
          </a:p>
          <a:p>
            <a:pPr algn="ctr"/>
            <a:r>
              <a:rPr lang="zh-CN" altLang="en-US" sz="1200" dirty="0"/>
              <a:t>（</a:t>
            </a:r>
            <a:r>
              <a:rPr lang="en-US" altLang="zh-CN" sz="1200" dirty="0"/>
              <a:t>8087</a:t>
            </a:r>
            <a:r>
              <a:rPr lang="zh-CN" altLang="en-US" sz="1200" dirty="0"/>
              <a:t>）</a:t>
            </a:r>
            <a:endParaRPr lang="en-US" altLang="zh-CN" sz="12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546ECD6-7EAE-80D6-AB4D-1F221DC1ADB8}"/>
              </a:ext>
            </a:extLst>
          </p:cNvPr>
          <p:cNvSpPr/>
          <p:nvPr/>
        </p:nvSpPr>
        <p:spPr>
          <a:xfrm>
            <a:off x="4417744" y="5141951"/>
            <a:ext cx="3189707" cy="6063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数据存储</a:t>
            </a:r>
            <a:r>
              <a:rPr lang="en-US" altLang="zh-CN" dirty="0"/>
              <a:t>MySQL</a:t>
            </a:r>
            <a:endParaRPr lang="zh-CN" altLang="en-US" sz="14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7332345-E9C3-130E-A616-1529A88273C7}"/>
              </a:ext>
            </a:extLst>
          </p:cNvPr>
          <p:cNvSpPr/>
          <p:nvPr/>
        </p:nvSpPr>
        <p:spPr>
          <a:xfrm>
            <a:off x="1188466" y="3139685"/>
            <a:ext cx="851327" cy="9051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注册中心</a:t>
            </a:r>
            <a:endParaRPr lang="en-US" altLang="zh-CN" sz="1200" dirty="0"/>
          </a:p>
          <a:p>
            <a:pPr algn="ctr"/>
            <a:r>
              <a:rPr lang="en-US" altLang="zh-CN" sz="1200" dirty="0" err="1"/>
              <a:t>Nacos</a:t>
            </a:r>
            <a:endParaRPr lang="en-US" altLang="zh-CN" sz="1200" dirty="0"/>
          </a:p>
          <a:p>
            <a:pPr algn="ctr"/>
            <a:endParaRPr lang="en-US" altLang="zh-CN" sz="1200" dirty="0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92447A8-2C33-D315-5DEF-0AEAF9C17E3F}"/>
              </a:ext>
            </a:extLst>
          </p:cNvPr>
          <p:cNvCxnSpPr>
            <a:stCxn id="14" idx="2"/>
            <a:endCxn id="11" idx="0"/>
          </p:cNvCxnSpPr>
          <p:nvPr/>
        </p:nvCxnSpPr>
        <p:spPr>
          <a:xfrm flipH="1">
            <a:off x="2899428" y="3291332"/>
            <a:ext cx="3196571" cy="4913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B4D7C42D-44D4-AE21-BE7D-079664981B05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 flipH="1">
            <a:off x="4177221" y="3291332"/>
            <a:ext cx="1918778" cy="4913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77FC064-D9CB-9C3D-6B25-D0E4C4E976EC}"/>
              </a:ext>
            </a:extLst>
          </p:cNvPr>
          <p:cNvCxnSpPr>
            <a:stCxn id="14" idx="2"/>
            <a:endCxn id="16" idx="0"/>
          </p:cNvCxnSpPr>
          <p:nvPr/>
        </p:nvCxnSpPr>
        <p:spPr>
          <a:xfrm flipH="1">
            <a:off x="5462519" y="3291332"/>
            <a:ext cx="633480" cy="491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844FB12F-EF0E-8BE5-C2D7-C3CC561E21B7}"/>
              </a:ext>
            </a:extLst>
          </p:cNvPr>
          <p:cNvCxnSpPr>
            <a:stCxn id="14" idx="2"/>
            <a:endCxn id="17" idx="0"/>
          </p:cNvCxnSpPr>
          <p:nvPr/>
        </p:nvCxnSpPr>
        <p:spPr>
          <a:xfrm>
            <a:off x="6095999" y="3291332"/>
            <a:ext cx="651818" cy="4913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69524002-688E-5D69-50FA-A23C4AAC0F8F}"/>
              </a:ext>
            </a:extLst>
          </p:cNvPr>
          <p:cNvCxnSpPr>
            <a:stCxn id="14" idx="2"/>
            <a:endCxn id="18" idx="0"/>
          </p:cNvCxnSpPr>
          <p:nvPr/>
        </p:nvCxnSpPr>
        <p:spPr>
          <a:xfrm>
            <a:off x="6095999" y="3291332"/>
            <a:ext cx="1937116" cy="4913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FC27AA0C-E873-FB8E-E45F-488408B2836E}"/>
              </a:ext>
            </a:extLst>
          </p:cNvPr>
          <p:cNvCxnSpPr>
            <a:stCxn id="14" idx="2"/>
            <a:endCxn id="19" idx="0"/>
          </p:cNvCxnSpPr>
          <p:nvPr/>
        </p:nvCxnSpPr>
        <p:spPr>
          <a:xfrm>
            <a:off x="6095999" y="3291332"/>
            <a:ext cx="3222414" cy="4913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8A10A32D-39A9-2EC7-4CAA-EABDDC0104A0}"/>
              </a:ext>
            </a:extLst>
          </p:cNvPr>
          <p:cNvSpPr/>
          <p:nvPr/>
        </p:nvSpPr>
        <p:spPr>
          <a:xfrm>
            <a:off x="2364509" y="2281382"/>
            <a:ext cx="7592290" cy="262176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1DF64268-D649-B530-2A65-70AB1CED856E}"/>
              </a:ext>
            </a:extLst>
          </p:cNvPr>
          <p:cNvCxnSpPr>
            <a:stCxn id="21" idx="3"/>
            <a:endCxn id="35" idx="1"/>
          </p:cNvCxnSpPr>
          <p:nvPr/>
        </p:nvCxnSpPr>
        <p:spPr>
          <a:xfrm>
            <a:off x="2039793" y="3592266"/>
            <a:ext cx="3247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7229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9319A-2F14-D25B-2056-CABF1D0DA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8EB84AD-40CA-4778-4C1A-70F711AC4D04}"/>
              </a:ext>
            </a:extLst>
          </p:cNvPr>
          <p:cNvSpPr txBox="1"/>
          <p:nvPr/>
        </p:nvSpPr>
        <p:spPr>
          <a:xfrm>
            <a:off x="785794" y="402923"/>
            <a:ext cx="86520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u="sng" dirty="0">
                <a:solidFill>
                  <a:srgbClr val="4F7FBD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03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1F5A943-8884-13B0-0F94-2618259E770C}"/>
              </a:ext>
            </a:extLst>
          </p:cNvPr>
          <p:cNvSpPr/>
          <p:nvPr/>
        </p:nvSpPr>
        <p:spPr>
          <a:xfrm>
            <a:off x="1651000" y="433700"/>
            <a:ext cx="2717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Part Three</a:t>
            </a:r>
          </a:p>
          <a:p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系统设计</a:t>
            </a:r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</a:t>
            </a:r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技术选型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7916423-6B0E-7AB1-F20C-96685203E6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318561"/>
              </p:ext>
            </p:extLst>
          </p:nvPr>
        </p:nvGraphicFramePr>
        <p:xfrm>
          <a:off x="1134779" y="2199472"/>
          <a:ext cx="4637458" cy="387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8729">
                  <a:extLst>
                    <a:ext uri="{9D8B030D-6E8A-4147-A177-3AD203B41FA5}">
                      <a16:colId xmlns:a16="http://schemas.microsoft.com/office/drawing/2014/main" val="1573520611"/>
                    </a:ext>
                  </a:extLst>
                </a:gridCol>
                <a:gridCol w="2318729">
                  <a:extLst>
                    <a:ext uri="{9D8B030D-6E8A-4147-A177-3AD203B41FA5}">
                      <a16:colId xmlns:a16="http://schemas.microsoft.com/office/drawing/2014/main" val="2054992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技术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用途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2601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Spring Boot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服务基础框架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6863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Spring Cloud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微服务治理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960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Spring Cloud Alibaba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Nacos</a:t>
                      </a:r>
                      <a:r>
                        <a:rPr lang="zh-CN" altLang="en-US" dirty="0"/>
                        <a:t>集成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406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MyBatis</a:t>
                      </a:r>
                      <a:r>
                        <a:rPr lang="en-US" altLang="zh-CN" dirty="0"/>
                        <a:t> Plus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ORM</a:t>
                      </a:r>
                      <a:r>
                        <a:rPr lang="zh-CN" altLang="en-US" dirty="0"/>
                        <a:t>数据访问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49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OpenFeign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服务间调用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025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GraphHopper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路图信息读取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119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SpringDoc</a:t>
                      </a:r>
                      <a:r>
                        <a:rPr lang="en-US" altLang="zh-CN" dirty="0"/>
                        <a:t> </a:t>
                      </a:r>
                      <a:r>
                        <a:rPr lang="en-US" altLang="zh-CN" dirty="0" err="1"/>
                        <a:t>OpenAPI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接口文档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8495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JJWT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JWT</a:t>
                      </a:r>
                      <a:r>
                        <a:rPr lang="zh-CN" altLang="en-US" dirty="0"/>
                        <a:t>令牌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019730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13B07C5B-9FE6-01E5-97D6-6C936C4FF7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040739"/>
              </p:ext>
            </p:extLst>
          </p:nvPr>
        </p:nvGraphicFramePr>
        <p:xfrm>
          <a:off x="6626288" y="2199472"/>
          <a:ext cx="4637458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8729">
                  <a:extLst>
                    <a:ext uri="{9D8B030D-6E8A-4147-A177-3AD203B41FA5}">
                      <a16:colId xmlns:a16="http://schemas.microsoft.com/office/drawing/2014/main" val="1573520611"/>
                    </a:ext>
                  </a:extLst>
                </a:gridCol>
                <a:gridCol w="2318729">
                  <a:extLst>
                    <a:ext uri="{9D8B030D-6E8A-4147-A177-3AD203B41FA5}">
                      <a16:colId xmlns:a16="http://schemas.microsoft.com/office/drawing/2014/main" val="2054992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技术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用途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2601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Vue3 + Vite8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前端框架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6863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TypeScript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类型安全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960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Element Plus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UI</a:t>
                      </a:r>
                      <a:r>
                        <a:rPr lang="zh-CN" altLang="en-US" dirty="0"/>
                        <a:t>组件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406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Pinia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状态管理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49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Axios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请求处理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025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Leaflet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地图渲染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119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Vue Router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路由管理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8495422"/>
                  </a:ext>
                </a:extLst>
              </a:tr>
            </a:tbl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0888B35A-6179-C0DB-9AD9-86E4E348ED62}"/>
              </a:ext>
            </a:extLst>
          </p:cNvPr>
          <p:cNvSpPr/>
          <p:nvPr/>
        </p:nvSpPr>
        <p:spPr>
          <a:xfrm>
            <a:off x="1134779" y="1476360"/>
            <a:ext cx="24023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后端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D6F0005-6D5B-85CD-5F8C-E27F114B0F58}"/>
              </a:ext>
            </a:extLst>
          </p:cNvPr>
          <p:cNvSpPr/>
          <p:nvPr/>
        </p:nvSpPr>
        <p:spPr>
          <a:xfrm>
            <a:off x="6626288" y="1476360"/>
            <a:ext cx="24023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前端</a:t>
            </a:r>
          </a:p>
        </p:txBody>
      </p:sp>
    </p:spTree>
    <p:extLst>
      <p:ext uri="{BB962C8B-B14F-4D97-AF65-F5344CB8AC3E}">
        <p14:creationId xmlns:p14="http://schemas.microsoft.com/office/powerpoint/2010/main" val="3605981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02757-33CA-C6E8-1586-8E525711C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1B1F9F9-FCD9-A084-274D-7707F3D36952}"/>
              </a:ext>
            </a:extLst>
          </p:cNvPr>
          <p:cNvSpPr txBox="1"/>
          <p:nvPr/>
        </p:nvSpPr>
        <p:spPr>
          <a:xfrm>
            <a:off x="785794" y="402923"/>
            <a:ext cx="86520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u="sng" dirty="0">
                <a:solidFill>
                  <a:srgbClr val="4F7FBD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03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DCBA5EB-A733-D240-BE32-79895C07BA1C}"/>
              </a:ext>
            </a:extLst>
          </p:cNvPr>
          <p:cNvSpPr/>
          <p:nvPr/>
        </p:nvSpPr>
        <p:spPr>
          <a:xfrm>
            <a:off x="1651000" y="433700"/>
            <a:ext cx="281016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Part Three</a:t>
            </a:r>
          </a:p>
          <a:p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系统设计</a:t>
            </a:r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</a:t>
            </a:r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数据库设计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FD3180B-862E-CA71-9C2E-B3E50675E26F}"/>
              </a:ext>
            </a:extLst>
          </p:cNvPr>
          <p:cNvCxnSpPr/>
          <p:nvPr/>
        </p:nvCxnSpPr>
        <p:spPr>
          <a:xfrm flipH="1">
            <a:off x="656541" y="5822784"/>
            <a:ext cx="11109855" cy="0"/>
          </a:xfrm>
          <a:prstGeom prst="line">
            <a:avLst/>
          </a:prstGeom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41CAE20E-0B48-9CF8-C060-4F59B3389BD1}"/>
              </a:ext>
            </a:extLst>
          </p:cNvPr>
          <p:cNvSpPr/>
          <p:nvPr/>
        </p:nvSpPr>
        <p:spPr>
          <a:xfrm>
            <a:off x="1012887" y="3338288"/>
            <a:ext cx="638112" cy="5156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user</a:t>
            </a:r>
            <a:endParaRPr lang="zh-CN" altLang="en-US" sz="11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5F2C2DF-2D1C-77F0-0E70-65B98120755F}"/>
              </a:ext>
            </a:extLst>
          </p:cNvPr>
          <p:cNvSpPr/>
          <p:nvPr/>
        </p:nvSpPr>
        <p:spPr>
          <a:xfrm>
            <a:off x="2556514" y="1964421"/>
            <a:ext cx="1904649" cy="5156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/>
              <a:t>customer_info</a:t>
            </a:r>
            <a:endParaRPr lang="zh-CN" altLang="en-US" sz="11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E4D8391-9F5C-C615-DA3C-D92B83A4D6EB}"/>
              </a:ext>
            </a:extLst>
          </p:cNvPr>
          <p:cNvSpPr/>
          <p:nvPr/>
        </p:nvSpPr>
        <p:spPr>
          <a:xfrm>
            <a:off x="2556514" y="4874894"/>
            <a:ext cx="1904648" cy="5156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/>
              <a:t>driver_info</a:t>
            </a:r>
            <a:endParaRPr lang="zh-CN" altLang="en-US" sz="11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49D301-8D1F-D923-DE7F-C32AC7B302B5}"/>
              </a:ext>
            </a:extLst>
          </p:cNvPr>
          <p:cNvSpPr/>
          <p:nvPr/>
        </p:nvSpPr>
        <p:spPr>
          <a:xfrm>
            <a:off x="2556514" y="3338288"/>
            <a:ext cx="1904648" cy="5156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/>
              <a:t>shop_info</a:t>
            </a:r>
            <a:endParaRPr lang="zh-CN" altLang="en-US" sz="11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43650C-7075-865B-BBD0-65F5B797DE76}"/>
              </a:ext>
            </a:extLst>
          </p:cNvPr>
          <p:cNvSpPr/>
          <p:nvPr/>
        </p:nvSpPr>
        <p:spPr>
          <a:xfrm>
            <a:off x="5342271" y="1947497"/>
            <a:ext cx="2046820" cy="5156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/>
              <a:t>customer_address</a:t>
            </a:r>
            <a:endParaRPr lang="zh-CN" altLang="en-US" sz="11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8E765B4-C84A-F0C7-6490-551CC7354A75}"/>
              </a:ext>
            </a:extLst>
          </p:cNvPr>
          <p:cNvSpPr/>
          <p:nvPr/>
        </p:nvSpPr>
        <p:spPr>
          <a:xfrm>
            <a:off x="5342271" y="2838905"/>
            <a:ext cx="2046820" cy="5156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/>
              <a:t>product_info</a:t>
            </a:r>
            <a:endParaRPr lang="zh-CN" altLang="en-US" sz="11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7099423-C7AC-8AF8-FC99-AAE9092AC742}"/>
              </a:ext>
            </a:extLst>
          </p:cNvPr>
          <p:cNvSpPr/>
          <p:nvPr/>
        </p:nvSpPr>
        <p:spPr>
          <a:xfrm>
            <a:off x="5342271" y="3718683"/>
            <a:ext cx="2046820" cy="5156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/>
              <a:t>warehouse_info</a:t>
            </a:r>
            <a:endParaRPr lang="zh-CN" altLang="en-US" sz="11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C733B59-0AB7-317E-40FA-B56413055071}"/>
              </a:ext>
            </a:extLst>
          </p:cNvPr>
          <p:cNvSpPr/>
          <p:nvPr/>
        </p:nvSpPr>
        <p:spPr>
          <a:xfrm>
            <a:off x="5342271" y="4867928"/>
            <a:ext cx="2046820" cy="5156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/>
              <a:t>vehicle_info</a:t>
            </a:r>
            <a:endParaRPr lang="zh-CN" altLang="en-US" sz="11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7A57105-74B1-B3A8-1EE2-3F1E0B5FB4C6}"/>
              </a:ext>
            </a:extLst>
          </p:cNvPr>
          <p:cNvSpPr/>
          <p:nvPr/>
        </p:nvSpPr>
        <p:spPr>
          <a:xfrm>
            <a:off x="8612074" y="2409379"/>
            <a:ext cx="2046820" cy="5156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/>
              <a:t>order_info</a:t>
            </a:r>
            <a:endParaRPr lang="zh-CN" altLang="en-US" sz="11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26E6DDD-8556-76EE-DC9D-16AD24116D5B}"/>
              </a:ext>
            </a:extLst>
          </p:cNvPr>
          <p:cNvSpPr/>
          <p:nvPr/>
        </p:nvSpPr>
        <p:spPr>
          <a:xfrm>
            <a:off x="8612074" y="4408184"/>
            <a:ext cx="2046820" cy="5156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/>
              <a:t>logistics_route</a:t>
            </a:r>
            <a:endParaRPr lang="zh-CN" altLang="en-US" sz="1100" dirty="0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974E8A0-1EEA-2021-F98F-7CC2B807184D}"/>
              </a:ext>
            </a:extLst>
          </p:cNvPr>
          <p:cNvCxnSpPr>
            <a:stCxn id="2" idx="3"/>
            <a:endCxn id="5" idx="1"/>
          </p:cNvCxnSpPr>
          <p:nvPr/>
        </p:nvCxnSpPr>
        <p:spPr>
          <a:xfrm flipV="1">
            <a:off x="1650999" y="2222258"/>
            <a:ext cx="905515" cy="13738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57F14B5-61E5-E57A-6563-CD8C23C68BA0}"/>
              </a:ext>
            </a:extLst>
          </p:cNvPr>
          <p:cNvCxnSpPr>
            <a:stCxn id="2" idx="3"/>
            <a:endCxn id="7" idx="1"/>
          </p:cNvCxnSpPr>
          <p:nvPr/>
        </p:nvCxnSpPr>
        <p:spPr>
          <a:xfrm>
            <a:off x="1650999" y="3596125"/>
            <a:ext cx="9055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67685D3F-C5B9-D199-3192-5A0AB25B2E2F}"/>
              </a:ext>
            </a:extLst>
          </p:cNvPr>
          <p:cNvCxnSpPr>
            <a:stCxn id="2" idx="3"/>
            <a:endCxn id="6" idx="1"/>
          </p:cNvCxnSpPr>
          <p:nvPr/>
        </p:nvCxnSpPr>
        <p:spPr>
          <a:xfrm>
            <a:off x="1650999" y="3596125"/>
            <a:ext cx="905515" cy="15366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61BC6E08-5235-6D7D-6159-1824E5AEA11C}"/>
              </a:ext>
            </a:extLst>
          </p:cNvPr>
          <p:cNvCxnSpPr>
            <a:stCxn id="6" idx="3"/>
            <a:endCxn id="15" idx="1"/>
          </p:cNvCxnSpPr>
          <p:nvPr/>
        </p:nvCxnSpPr>
        <p:spPr>
          <a:xfrm>
            <a:off x="4461162" y="5132731"/>
            <a:ext cx="9882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604E8B7-B515-DB32-77CF-25892BF29883}"/>
              </a:ext>
            </a:extLst>
          </p:cNvPr>
          <p:cNvCxnSpPr>
            <a:stCxn id="7" idx="3"/>
            <a:endCxn id="13" idx="1"/>
          </p:cNvCxnSpPr>
          <p:nvPr/>
        </p:nvCxnSpPr>
        <p:spPr>
          <a:xfrm flipV="1">
            <a:off x="4461162" y="3096742"/>
            <a:ext cx="881109" cy="4993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7DEC28CF-0206-29F5-2717-F0CDA1828A3A}"/>
              </a:ext>
            </a:extLst>
          </p:cNvPr>
          <p:cNvCxnSpPr>
            <a:stCxn id="7" idx="3"/>
            <a:endCxn id="14" idx="1"/>
          </p:cNvCxnSpPr>
          <p:nvPr/>
        </p:nvCxnSpPr>
        <p:spPr>
          <a:xfrm>
            <a:off x="4461162" y="3596125"/>
            <a:ext cx="881109" cy="3803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36B8A56E-9664-8580-AB63-81F1EADCC39A}"/>
              </a:ext>
            </a:extLst>
          </p:cNvPr>
          <p:cNvCxnSpPr>
            <a:stCxn id="5" idx="3"/>
            <a:endCxn id="10" idx="1"/>
          </p:cNvCxnSpPr>
          <p:nvPr/>
        </p:nvCxnSpPr>
        <p:spPr>
          <a:xfrm>
            <a:off x="4461163" y="2222258"/>
            <a:ext cx="9882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连接符: 肘形 34">
            <a:extLst>
              <a:ext uri="{FF2B5EF4-FFF2-40B4-BE49-F238E27FC236}">
                <a16:creationId xmlns:a16="http://schemas.microsoft.com/office/drawing/2014/main" id="{5CCFABFC-7CCA-0DF0-22B1-4F9C2A0BC5D8}"/>
              </a:ext>
            </a:extLst>
          </p:cNvPr>
          <p:cNvCxnSpPr>
            <a:stCxn id="5" idx="0"/>
            <a:endCxn id="16" idx="0"/>
          </p:cNvCxnSpPr>
          <p:nvPr/>
        </p:nvCxnSpPr>
        <p:spPr>
          <a:xfrm rot="16200000" flipH="1">
            <a:off x="6349682" y="-876422"/>
            <a:ext cx="444958" cy="6126645"/>
          </a:xfrm>
          <a:prstGeom prst="bentConnector3">
            <a:avLst>
              <a:gd name="adj1" fmla="val -5137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49C27117-D62A-C854-9959-0C977B70153D}"/>
              </a:ext>
            </a:extLst>
          </p:cNvPr>
          <p:cNvCxnSpPr>
            <a:endCxn id="16" idx="1"/>
          </p:cNvCxnSpPr>
          <p:nvPr/>
        </p:nvCxnSpPr>
        <p:spPr>
          <a:xfrm flipV="1">
            <a:off x="7389091" y="2667216"/>
            <a:ext cx="1222983" cy="4295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>
            <a:extLst>
              <a:ext uri="{FF2B5EF4-FFF2-40B4-BE49-F238E27FC236}">
                <a16:creationId xmlns:a16="http://schemas.microsoft.com/office/drawing/2014/main" id="{6EA881BE-8B2E-F71E-516D-3161FD9F5D99}"/>
              </a:ext>
            </a:extLst>
          </p:cNvPr>
          <p:cNvSpPr/>
          <p:nvPr/>
        </p:nvSpPr>
        <p:spPr>
          <a:xfrm>
            <a:off x="8612074" y="3393642"/>
            <a:ext cx="2046820" cy="5156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/>
              <a:t>order_delivery</a:t>
            </a:r>
            <a:endParaRPr lang="zh-CN" altLang="en-US" sz="1100" dirty="0"/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13B75944-B25A-FCE4-E570-B038852CB46B}"/>
              </a:ext>
            </a:extLst>
          </p:cNvPr>
          <p:cNvCxnSpPr>
            <a:stCxn id="16" idx="2"/>
            <a:endCxn id="42" idx="0"/>
          </p:cNvCxnSpPr>
          <p:nvPr/>
        </p:nvCxnSpPr>
        <p:spPr>
          <a:xfrm>
            <a:off x="9635484" y="2925053"/>
            <a:ext cx="0" cy="4685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45213197-4CE0-ADFB-3B41-E5A2D546A551}"/>
              </a:ext>
            </a:extLst>
          </p:cNvPr>
          <p:cNvCxnSpPr>
            <a:stCxn id="42" idx="2"/>
            <a:endCxn id="17" idx="0"/>
          </p:cNvCxnSpPr>
          <p:nvPr/>
        </p:nvCxnSpPr>
        <p:spPr>
          <a:xfrm>
            <a:off x="9635484" y="3909316"/>
            <a:ext cx="0" cy="4988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9471CA6F-39C5-8955-9A0C-ADCA72024D9C}"/>
              </a:ext>
            </a:extLst>
          </p:cNvPr>
          <p:cNvCxnSpPr>
            <a:cxnSpLocks/>
            <a:stCxn id="6" idx="0"/>
          </p:cNvCxnSpPr>
          <p:nvPr/>
        </p:nvCxnSpPr>
        <p:spPr>
          <a:xfrm rot="5400000" flipH="1" flipV="1">
            <a:off x="5650025" y="2378447"/>
            <a:ext cx="355261" cy="463763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BB20753C-8B2A-4C27-1C25-E79CC4000156}"/>
              </a:ext>
            </a:extLst>
          </p:cNvPr>
          <p:cNvCxnSpPr>
            <a:cxnSpLocks/>
            <a:endCxn id="42" idx="1"/>
          </p:cNvCxnSpPr>
          <p:nvPr/>
        </p:nvCxnSpPr>
        <p:spPr>
          <a:xfrm rot="5400000" flipH="1" flipV="1">
            <a:off x="7945196" y="3852755"/>
            <a:ext cx="868154" cy="46560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9334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74127" y="2557690"/>
            <a:ext cx="5826291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Part Four</a:t>
            </a:r>
          </a:p>
          <a:p>
            <a:r>
              <a:rPr lang="zh-CN" altLang="en-US" sz="5400" dirty="0">
                <a:solidFill>
                  <a:schemeClr val="bg1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功能实现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413810" y="2713512"/>
            <a:ext cx="0" cy="1494421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 2"/>
          <p:cNvSpPr/>
          <p:nvPr/>
        </p:nvSpPr>
        <p:spPr>
          <a:xfrm>
            <a:off x="90805" y="1988185"/>
            <a:ext cx="6793230" cy="2743835"/>
          </a:xfrm>
          <a:prstGeom prst="roundRect">
            <a:avLst/>
          </a:prstGeom>
          <a:noFill/>
          <a:ln w="666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85794" y="402923"/>
            <a:ext cx="86520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u="sng" dirty="0">
                <a:solidFill>
                  <a:srgbClr val="4F7FBD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04</a:t>
            </a:r>
          </a:p>
        </p:txBody>
      </p:sp>
      <p:sp>
        <p:nvSpPr>
          <p:cNvPr id="4" name="矩形 3"/>
          <p:cNvSpPr/>
          <p:nvPr/>
        </p:nvSpPr>
        <p:spPr>
          <a:xfrm>
            <a:off x="1651000" y="433700"/>
            <a:ext cx="3225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Part Four</a:t>
            </a:r>
          </a:p>
          <a:p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功能实现</a:t>
            </a:r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</a:t>
            </a:r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认证与权限</a:t>
            </a:r>
          </a:p>
        </p:txBody>
      </p:sp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22BCC7A9-A007-31B2-C70F-30B0689CC5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2206083"/>
              </p:ext>
            </p:extLst>
          </p:nvPr>
        </p:nvGraphicFramePr>
        <p:xfrm>
          <a:off x="2355272" y="4590473"/>
          <a:ext cx="7481455" cy="9752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燕尾形 109">
            <a:extLst>
              <a:ext uri="{FF2B5EF4-FFF2-40B4-BE49-F238E27FC236}">
                <a16:creationId xmlns:a16="http://schemas.microsoft.com/office/drawing/2014/main" id="{43E8DD07-DD91-BFB3-C71A-223BA39009C2}"/>
              </a:ext>
            </a:extLst>
          </p:cNvPr>
          <p:cNvSpPr/>
          <p:nvPr/>
        </p:nvSpPr>
        <p:spPr>
          <a:xfrm>
            <a:off x="4470665" y="1627309"/>
            <a:ext cx="812269" cy="1965613"/>
          </a:xfrm>
          <a:prstGeom prst="chevron">
            <a:avLst>
              <a:gd name="adj" fmla="val 65810"/>
            </a:avLst>
          </a:prstGeom>
          <a:solidFill>
            <a:srgbClr val="2E75B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字魂36号-正文宋楷" panose="02000000000000000000" charset="-122"/>
              <a:ea typeface="字魂36号-正文宋楷" panose="02000000000000000000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096A19-527B-B033-FFEB-8D3C60B44858}"/>
              </a:ext>
            </a:extLst>
          </p:cNvPr>
          <p:cNvSpPr/>
          <p:nvPr/>
        </p:nvSpPr>
        <p:spPr>
          <a:xfrm>
            <a:off x="1588250" y="1851213"/>
            <a:ext cx="28712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登录认证（端口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8082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2C89F6-3BFF-CDE3-8932-FF275BC78174}"/>
              </a:ext>
            </a:extLst>
          </p:cNvPr>
          <p:cNvSpPr/>
          <p:nvPr/>
        </p:nvSpPr>
        <p:spPr>
          <a:xfrm>
            <a:off x="1577134" y="2251323"/>
            <a:ext cx="2893531" cy="13322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· 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用户登录接口：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`POST /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api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/auth/login</a:t>
            </a:r>
          </a:p>
          <a:p>
            <a:pPr>
              <a:lnSpc>
                <a:spcPct val="130000"/>
              </a:lnSpc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· 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密码使用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BCrypt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哈希存储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050" dirty="0"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· </a:t>
            </a:r>
            <a:r>
              <a:rPr lang="zh-CN" altLang="en-US" sz="1050" dirty="0"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登录成功后签发 </a:t>
            </a:r>
            <a:r>
              <a:rPr lang="en-US" altLang="zh-CN" sz="1050" dirty="0"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JWT Token</a:t>
            </a:r>
            <a:r>
              <a:rPr lang="zh-CN" altLang="en-US" sz="1050" dirty="0"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，有效期 </a:t>
            </a:r>
            <a:r>
              <a:rPr lang="en-US" altLang="zh-CN" sz="1050" dirty="0"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2 </a:t>
            </a:r>
            <a:r>
              <a:rPr lang="zh-CN" altLang="en-US" sz="1050" dirty="0"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小时</a:t>
            </a:r>
            <a:endParaRPr lang="en-US" altLang="zh-CN" sz="1050" dirty="0"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050" dirty="0"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050" dirty="0"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Token </a:t>
            </a:r>
            <a:r>
              <a:rPr lang="zh-CN" altLang="en-US" sz="1050" dirty="0"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中携带：</a:t>
            </a:r>
            <a:endParaRPr lang="en-US" altLang="zh-CN" sz="1050" dirty="0"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050" dirty="0" err="1"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userId</a:t>
            </a:r>
            <a:r>
              <a:rPr lang="zh-CN" altLang="en-US" sz="1050" dirty="0"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、</a:t>
            </a:r>
            <a:r>
              <a:rPr lang="en-US" altLang="zh-CN" sz="1050" dirty="0"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username</a:t>
            </a:r>
            <a:r>
              <a:rPr lang="zh-CN" altLang="en-US" sz="1050" dirty="0"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、</a:t>
            </a:r>
            <a:r>
              <a:rPr lang="en-US" altLang="zh-CN" sz="1050" dirty="0"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permission</a:t>
            </a:r>
            <a:r>
              <a:rPr lang="zh-CN" altLang="en-US" sz="1050" dirty="0"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（权限信息）</a:t>
            </a:r>
          </a:p>
        </p:txBody>
      </p:sp>
      <p:sp>
        <p:nvSpPr>
          <p:cNvPr id="13" name="燕尾形 109">
            <a:extLst>
              <a:ext uri="{FF2B5EF4-FFF2-40B4-BE49-F238E27FC236}">
                <a16:creationId xmlns:a16="http://schemas.microsoft.com/office/drawing/2014/main" id="{510DBEAE-6B5C-FBEF-8165-9B6AE75BF233}"/>
              </a:ext>
            </a:extLst>
          </p:cNvPr>
          <p:cNvSpPr/>
          <p:nvPr/>
        </p:nvSpPr>
        <p:spPr>
          <a:xfrm>
            <a:off x="9620202" y="1645512"/>
            <a:ext cx="812269" cy="1965613"/>
          </a:xfrm>
          <a:prstGeom prst="chevron">
            <a:avLst>
              <a:gd name="adj" fmla="val 65810"/>
            </a:avLst>
          </a:prstGeom>
          <a:solidFill>
            <a:srgbClr val="2E75B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字魂36号-正文宋楷" panose="02000000000000000000" charset="-122"/>
              <a:ea typeface="字魂36号-正文宋楷" panose="02000000000000000000" charset="-122"/>
              <a:cs typeface="+mn-c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8A2D67B-84C7-E5AA-287A-C5B82335D2C4}"/>
              </a:ext>
            </a:extLst>
          </p:cNvPr>
          <p:cNvSpPr/>
          <p:nvPr/>
        </p:nvSpPr>
        <p:spPr>
          <a:xfrm>
            <a:off x="6737787" y="1869416"/>
            <a:ext cx="28712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网关服务（端口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8083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E786D4A-87D7-8C2D-5CCC-E53697F01526}"/>
              </a:ext>
            </a:extLst>
          </p:cNvPr>
          <p:cNvSpPr/>
          <p:nvPr/>
        </p:nvSpPr>
        <p:spPr>
          <a:xfrm>
            <a:off x="6726671" y="2269526"/>
            <a:ext cx="2893531" cy="13322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· 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所有请求经网关统一入口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· 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白名单放行：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/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api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/auth/login</a:t>
            </a:r>
          </a:p>
          <a:p>
            <a:pPr>
              <a:lnSpc>
                <a:spcPct val="130000"/>
              </a:lnSpc>
            </a:pPr>
            <a:r>
              <a:rPr lang="en-US" altLang="zh-CN" sz="1050" dirty="0"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· </a:t>
            </a:r>
            <a:r>
              <a:rPr lang="zh-CN" altLang="en-US" sz="1050" dirty="0"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读取 </a:t>
            </a:r>
            <a:r>
              <a:rPr lang="en-US" altLang="zh-CN" sz="1050" dirty="0"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Token </a:t>
            </a:r>
            <a:r>
              <a:rPr lang="zh-CN" altLang="en-US" sz="1050" dirty="0"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中 的</a:t>
            </a:r>
            <a:r>
              <a:rPr lang="en-US" altLang="zh-CN" sz="1050" dirty="0"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permission</a:t>
            </a:r>
            <a:r>
              <a:rPr lang="zh-CN" altLang="en-US" sz="1050" dirty="0"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信息，与请求路径的角色要求匹配</a:t>
            </a:r>
            <a:endParaRPr lang="en-US" altLang="zh-CN" sz="1050" dirty="0"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050" dirty="0"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· </a:t>
            </a:r>
            <a:r>
              <a:rPr lang="zh-CN" altLang="en-US" sz="1050" dirty="0"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通过后将用户信息注入请求头，下游服务直接读取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9F7AA-2F18-76AB-A373-108EB9428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C210EC2-6F59-133A-1451-D0640B95D4E5}"/>
              </a:ext>
            </a:extLst>
          </p:cNvPr>
          <p:cNvSpPr txBox="1"/>
          <p:nvPr/>
        </p:nvSpPr>
        <p:spPr>
          <a:xfrm>
            <a:off x="785794" y="402923"/>
            <a:ext cx="86520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u="sng" dirty="0">
                <a:solidFill>
                  <a:srgbClr val="4F7FBD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05551FB-18BF-275B-21B7-28BB13B1A472}"/>
              </a:ext>
            </a:extLst>
          </p:cNvPr>
          <p:cNvSpPr/>
          <p:nvPr/>
        </p:nvSpPr>
        <p:spPr>
          <a:xfrm>
            <a:off x="1651000" y="433700"/>
            <a:ext cx="3225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Part Four</a:t>
            </a:r>
          </a:p>
          <a:p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功能实现</a:t>
            </a:r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</a:t>
            </a:r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顾客服务</a:t>
            </a:r>
          </a:p>
        </p:txBody>
      </p:sp>
      <p:sp>
        <p:nvSpPr>
          <p:cNvPr id="6" name="矩形 5"/>
          <p:cNvSpPr/>
          <p:nvPr/>
        </p:nvSpPr>
        <p:spPr>
          <a:xfrm>
            <a:off x="656542" y="1661573"/>
            <a:ext cx="4897591" cy="4756160"/>
          </a:xfrm>
          <a:prstGeom prst="rect">
            <a:avLst/>
          </a:prstGeom>
          <a:solidFill>
            <a:srgbClr val="E4E4E4"/>
          </a:solidFill>
          <a:ln w="1905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61724" y="1829443"/>
            <a:ext cx="34948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顾客服务（端口 </a:t>
            </a:r>
            <a:r>
              <a:rPr lang="en-US" altLang="zh-CN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8083</a:t>
            </a:r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）</a:t>
            </a:r>
          </a:p>
        </p:txBody>
      </p:sp>
      <p:sp>
        <p:nvSpPr>
          <p:cNvPr id="23" name="矩形 22"/>
          <p:cNvSpPr/>
          <p:nvPr/>
        </p:nvSpPr>
        <p:spPr>
          <a:xfrm>
            <a:off x="961724" y="2291108"/>
            <a:ext cx="4167052" cy="2305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顾客信息管理</a:t>
            </a:r>
            <a:endParaRPr lang="en-US" altLang="zh-CN" sz="1400" b="1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 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增删改查用户信息（</a:t>
            </a:r>
            <a:r>
              <a:rPr lang="en-US" altLang="zh-CN" sz="1400" b="1" dirty="0" err="1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customer_info</a:t>
            </a: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)</a:t>
            </a: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 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为管理员提供用户管理接口</a:t>
            </a: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收货地址管理</a:t>
            </a: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内部 </a:t>
            </a: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Feign 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接口供 </a:t>
            </a: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order-service 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调用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70F71C7F-D6B5-0335-784A-23782887C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432" y="1906600"/>
            <a:ext cx="5801535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684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D0195-B9A1-F1B7-2045-8B5C376E2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52A2BAE-4031-6002-E4A4-821D9A47693A}"/>
              </a:ext>
            </a:extLst>
          </p:cNvPr>
          <p:cNvSpPr txBox="1"/>
          <p:nvPr/>
        </p:nvSpPr>
        <p:spPr>
          <a:xfrm>
            <a:off x="785794" y="402923"/>
            <a:ext cx="86520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u="sng" dirty="0">
                <a:solidFill>
                  <a:srgbClr val="4F7FBD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2B4B5EB-3C8D-AFAE-C9FA-8A4000AC2636}"/>
              </a:ext>
            </a:extLst>
          </p:cNvPr>
          <p:cNvSpPr/>
          <p:nvPr/>
        </p:nvSpPr>
        <p:spPr>
          <a:xfrm>
            <a:off x="1651000" y="433700"/>
            <a:ext cx="3225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Part Four</a:t>
            </a:r>
          </a:p>
          <a:p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功能实现</a:t>
            </a:r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</a:t>
            </a:r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顾客服务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4595E6D-5578-8AD9-80A8-5CA664D593E9}"/>
              </a:ext>
            </a:extLst>
          </p:cNvPr>
          <p:cNvSpPr/>
          <p:nvPr/>
        </p:nvSpPr>
        <p:spPr>
          <a:xfrm>
            <a:off x="656542" y="1661573"/>
            <a:ext cx="4897591" cy="4756160"/>
          </a:xfrm>
          <a:prstGeom prst="rect">
            <a:avLst/>
          </a:prstGeom>
          <a:solidFill>
            <a:srgbClr val="E4E4E4"/>
          </a:solidFill>
          <a:ln w="1905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77D208F-173C-6092-12AB-6B1EE41A83A4}"/>
              </a:ext>
            </a:extLst>
          </p:cNvPr>
          <p:cNvSpPr/>
          <p:nvPr/>
        </p:nvSpPr>
        <p:spPr>
          <a:xfrm>
            <a:off x="961724" y="1829443"/>
            <a:ext cx="34948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顾客服务（端口 </a:t>
            </a:r>
            <a:r>
              <a:rPr lang="en-US" altLang="zh-CN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8083</a:t>
            </a:r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）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95F41F1-6BA6-8D8E-1ACA-02F7743450D8}"/>
              </a:ext>
            </a:extLst>
          </p:cNvPr>
          <p:cNvSpPr/>
          <p:nvPr/>
        </p:nvSpPr>
        <p:spPr>
          <a:xfrm>
            <a:off x="961724" y="2291108"/>
            <a:ext cx="4167052" cy="2865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顾客信息管理</a:t>
            </a: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收货地址管理</a:t>
            </a:r>
            <a:endParaRPr lang="en-US" altLang="zh-CN" sz="1400" b="1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  增删改查用户地址，以</a:t>
            </a:r>
            <a:r>
              <a:rPr lang="en-US" altLang="zh-CN" sz="1400" b="1" dirty="0" err="1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customer_id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为外键</a:t>
            </a:r>
            <a:endParaRPr lang="en-US" altLang="zh-CN" sz="1400" b="1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 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前端返回具体地址，通过高德</a:t>
            </a: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API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接口转为经纬    度存放在数据库中</a:t>
            </a: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内部 </a:t>
            </a: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Feign 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接口供 </a:t>
            </a: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order-service 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调用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99CE3DF-9005-4FBE-8418-4BD56C07D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61573"/>
            <a:ext cx="5010849" cy="471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286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2DAC5-A604-62DC-E3F8-FE05DF852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7430EB2-C1A8-8F26-D5C7-4A512ADC8E6D}"/>
              </a:ext>
            </a:extLst>
          </p:cNvPr>
          <p:cNvSpPr txBox="1"/>
          <p:nvPr/>
        </p:nvSpPr>
        <p:spPr>
          <a:xfrm>
            <a:off x="785794" y="402923"/>
            <a:ext cx="86520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u="sng" dirty="0">
                <a:solidFill>
                  <a:srgbClr val="4F7FBD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94C9172-5E1A-CC80-7301-B71A0CBA7878}"/>
              </a:ext>
            </a:extLst>
          </p:cNvPr>
          <p:cNvSpPr/>
          <p:nvPr/>
        </p:nvSpPr>
        <p:spPr>
          <a:xfrm>
            <a:off x="1651000" y="433700"/>
            <a:ext cx="3225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Part Four</a:t>
            </a:r>
          </a:p>
          <a:p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功能实现</a:t>
            </a:r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</a:t>
            </a:r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顾客服务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78A7D40-7212-2A87-6074-1D0AE662854F}"/>
              </a:ext>
            </a:extLst>
          </p:cNvPr>
          <p:cNvSpPr/>
          <p:nvPr/>
        </p:nvSpPr>
        <p:spPr>
          <a:xfrm>
            <a:off x="656542" y="1661573"/>
            <a:ext cx="4897591" cy="4756160"/>
          </a:xfrm>
          <a:prstGeom prst="rect">
            <a:avLst/>
          </a:prstGeom>
          <a:solidFill>
            <a:srgbClr val="E4E4E4"/>
          </a:solidFill>
          <a:ln w="1905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845967-43F9-576B-7EF0-05A8189485A8}"/>
              </a:ext>
            </a:extLst>
          </p:cNvPr>
          <p:cNvSpPr/>
          <p:nvPr/>
        </p:nvSpPr>
        <p:spPr>
          <a:xfrm>
            <a:off x="961724" y="1829443"/>
            <a:ext cx="34948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顾客服务（端口 </a:t>
            </a:r>
            <a:r>
              <a:rPr lang="en-US" altLang="zh-CN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8083</a:t>
            </a:r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）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37BCABB-4CE3-7B06-E15B-8062203950AC}"/>
              </a:ext>
            </a:extLst>
          </p:cNvPr>
          <p:cNvSpPr/>
          <p:nvPr/>
        </p:nvSpPr>
        <p:spPr>
          <a:xfrm>
            <a:off x="961724" y="2291108"/>
            <a:ext cx="4167052" cy="2025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顾客信息管理</a:t>
            </a: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收货地址管理</a:t>
            </a: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内部 </a:t>
            </a: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Feign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接口供 </a:t>
            </a: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order-service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调用</a:t>
            </a:r>
            <a:endParaRPr lang="en-US" altLang="zh-CN" sz="1400" b="1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111E634-A61F-6378-78CE-F25A474EF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615" y="1661573"/>
            <a:ext cx="6233113" cy="202555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1A7D62B-1439-E079-751F-74850075FE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003"/>
          <a:stretch>
            <a:fillRect/>
          </a:stretch>
        </p:blipFill>
        <p:spPr>
          <a:xfrm>
            <a:off x="5794615" y="4316663"/>
            <a:ext cx="6233113" cy="1794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21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4B40C-FECA-F43F-A727-A0293A9F7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F2401C1-6144-31F3-2597-8FFA8D034F1A}"/>
              </a:ext>
            </a:extLst>
          </p:cNvPr>
          <p:cNvSpPr txBox="1"/>
          <p:nvPr/>
        </p:nvSpPr>
        <p:spPr>
          <a:xfrm>
            <a:off x="785794" y="402923"/>
            <a:ext cx="86520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u="sng" dirty="0">
                <a:solidFill>
                  <a:srgbClr val="4F7FBD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2591324-A740-3FFE-FBD6-EA0070DD26F7}"/>
              </a:ext>
            </a:extLst>
          </p:cNvPr>
          <p:cNvSpPr/>
          <p:nvPr/>
        </p:nvSpPr>
        <p:spPr>
          <a:xfrm>
            <a:off x="1651000" y="433700"/>
            <a:ext cx="3225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Part Four</a:t>
            </a:r>
          </a:p>
          <a:p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功能实现</a:t>
            </a:r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</a:t>
            </a:r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商铺服务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25E869B-7D13-9485-C8AD-D99147BCCD79}"/>
              </a:ext>
            </a:extLst>
          </p:cNvPr>
          <p:cNvSpPr/>
          <p:nvPr/>
        </p:nvSpPr>
        <p:spPr>
          <a:xfrm>
            <a:off x="656542" y="1661573"/>
            <a:ext cx="4897591" cy="4756160"/>
          </a:xfrm>
          <a:prstGeom prst="rect">
            <a:avLst/>
          </a:prstGeom>
          <a:solidFill>
            <a:srgbClr val="E4E4E4"/>
          </a:solidFill>
          <a:ln w="1905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5789A48-4AD0-0782-4D33-E93DAA10DF5B}"/>
              </a:ext>
            </a:extLst>
          </p:cNvPr>
          <p:cNvSpPr/>
          <p:nvPr/>
        </p:nvSpPr>
        <p:spPr>
          <a:xfrm>
            <a:off x="961724" y="1829443"/>
            <a:ext cx="34948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商铺服务（端口 </a:t>
            </a:r>
            <a:r>
              <a:rPr lang="en-US" altLang="zh-CN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8084</a:t>
            </a:r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C661248-272C-9E1A-7E33-33F7A2DD1D9C}"/>
              </a:ext>
            </a:extLst>
          </p:cNvPr>
          <p:cNvSpPr/>
          <p:nvPr/>
        </p:nvSpPr>
        <p:spPr>
          <a:xfrm>
            <a:off x="961724" y="2291108"/>
            <a:ext cx="4167052" cy="2865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商品管理</a:t>
            </a:r>
            <a:endParaRPr lang="en-US" altLang="zh-CN" sz="1400" b="1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  增删改查商品信息</a:t>
            </a:r>
            <a:endParaRPr lang="en-US" altLang="zh-CN" sz="1400" b="1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 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提供分页查询为前端商城提供接口</a:t>
            </a:r>
            <a:endParaRPr lang="en-US" altLang="zh-CN" sz="1400" b="1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 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商户提交商品上架请求后由管理员审核</a:t>
            </a: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库存管理</a:t>
            </a: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订单操作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24D9634-DD60-F869-67D7-B7312CF56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672" y="1496291"/>
            <a:ext cx="6104494" cy="4949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945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26797-DCBB-83EF-3FA2-06186CE9A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6D9D80E-0C2D-A55F-4CDE-FD716E5CC415}"/>
              </a:ext>
            </a:extLst>
          </p:cNvPr>
          <p:cNvSpPr txBox="1"/>
          <p:nvPr/>
        </p:nvSpPr>
        <p:spPr>
          <a:xfrm>
            <a:off x="785794" y="402923"/>
            <a:ext cx="86520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u="sng" dirty="0">
                <a:solidFill>
                  <a:srgbClr val="4F7FBD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2E4FD3A-346F-9B26-98A9-23BC0444C0BB}"/>
              </a:ext>
            </a:extLst>
          </p:cNvPr>
          <p:cNvSpPr/>
          <p:nvPr/>
        </p:nvSpPr>
        <p:spPr>
          <a:xfrm>
            <a:off x="1651000" y="433700"/>
            <a:ext cx="3225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Part Four</a:t>
            </a:r>
          </a:p>
          <a:p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功能实现</a:t>
            </a:r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</a:t>
            </a:r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商铺服务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EA9E29D-92A6-1295-0761-29EB76D09B10}"/>
              </a:ext>
            </a:extLst>
          </p:cNvPr>
          <p:cNvSpPr/>
          <p:nvPr/>
        </p:nvSpPr>
        <p:spPr>
          <a:xfrm>
            <a:off x="656542" y="1661573"/>
            <a:ext cx="4897591" cy="4756160"/>
          </a:xfrm>
          <a:prstGeom prst="rect">
            <a:avLst/>
          </a:prstGeom>
          <a:solidFill>
            <a:srgbClr val="E4E4E4"/>
          </a:solidFill>
          <a:ln w="1905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B7A3A13-58F5-0151-651F-C2CB3A88A743}"/>
              </a:ext>
            </a:extLst>
          </p:cNvPr>
          <p:cNvSpPr/>
          <p:nvPr/>
        </p:nvSpPr>
        <p:spPr>
          <a:xfrm>
            <a:off x="961724" y="1829443"/>
            <a:ext cx="34948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商铺服务（端口 </a:t>
            </a:r>
            <a:r>
              <a:rPr lang="en-US" altLang="zh-CN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8084</a:t>
            </a:r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9472FE2-9A1E-BA46-413D-EDA340BF947E}"/>
              </a:ext>
            </a:extLst>
          </p:cNvPr>
          <p:cNvSpPr/>
          <p:nvPr/>
        </p:nvSpPr>
        <p:spPr>
          <a:xfrm>
            <a:off x="961724" y="2291108"/>
            <a:ext cx="4167052" cy="2865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商品管理</a:t>
            </a: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库存管理</a:t>
            </a:r>
            <a:endParaRPr lang="en-US" altLang="zh-CN" sz="1400" b="1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  商户管理商品的入库操作</a:t>
            </a:r>
            <a:endParaRPr lang="en-US" altLang="zh-CN" sz="1400" b="1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 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在订单发货时选择仓库自动完成出库</a:t>
            </a:r>
            <a:endParaRPr lang="en-US" altLang="zh-CN" sz="1400" b="1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  下单时原子操作扣减库存，避免超出库存</a:t>
            </a: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订单操作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570E012-EBAC-81CC-209F-63B7AD36E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096" y="1930400"/>
            <a:ext cx="5970681" cy="428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32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9A075-BF05-9D68-AB2A-4A91C0574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7C4FC65-B560-F385-B5D8-BBC1A1ADC4A3}"/>
              </a:ext>
            </a:extLst>
          </p:cNvPr>
          <p:cNvSpPr txBox="1"/>
          <p:nvPr/>
        </p:nvSpPr>
        <p:spPr>
          <a:xfrm>
            <a:off x="785794" y="402923"/>
            <a:ext cx="86520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u="sng" dirty="0">
                <a:solidFill>
                  <a:srgbClr val="4F7FBD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4FD937D-BB85-EB5D-0CBC-7EFCFBB504F5}"/>
              </a:ext>
            </a:extLst>
          </p:cNvPr>
          <p:cNvSpPr/>
          <p:nvPr/>
        </p:nvSpPr>
        <p:spPr>
          <a:xfrm>
            <a:off x="1651000" y="433700"/>
            <a:ext cx="3225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Part Four</a:t>
            </a:r>
          </a:p>
          <a:p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功能实现</a:t>
            </a:r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</a:t>
            </a:r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商铺服务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DA71A3C-6325-28BF-5B7A-8B193BB9ED0A}"/>
              </a:ext>
            </a:extLst>
          </p:cNvPr>
          <p:cNvSpPr/>
          <p:nvPr/>
        </p:nvSpPr>
        <p:spPr>
          <a:xfrm>
            <a:off x="656542" y="1661573"/>
            <a:ext cx="4897591" cy="4756160"/>
          </a:xfrm>
          <a:prstGeom prst="rect">
            <a:avLst/>
          </a:prstGeom>
          <a:solidFill>
            <a:srgbClr val="E4E4E4"/>
          </a:solidFill>
          <a:ln w="1905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BF16A2A-BE71-D4D9-D869-758B25170D2B}"/>
              </a:ext>
            </a:extLst>
          </p:cNvPr>
          <p:cNvSpPr/>
          <p:nvPr/>
        </p:nvSpPr>
        <p:spPr>
          <a:xfrm>
            <a:off x="961724" y="1829443"/>
            <a:ext cx="34948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商铺服务（端口 </a:t>
            </a:r>
            <a:r>
              <a:rPr lang="en-US" altLang="zh-CN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8084</a:t>
            </a:r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D6A100E-F829-23C1-9762-8B302E59644C}"/>
              </a:ext>
            </a:extLst>
          </p:cNvPr>
          <p:cNvSpPr/>
          <p:nvPr/>
        </p:nvSpPr>
        <p:spPr>
          <a:xfrm>
            <a:off x="961724" y="2291108"/>
            <a:ext cx="4167052" cy="2865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商品管理</a:t>
            </a: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库存管理</a:t>
            </a: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订单操作</a:t>
            </a:r>
            <a:endParaRPr lang="en-US" altLang="zh-CN" sz="1400" b="1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  （该部分属于</a:t>
            </a: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Order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服务）</a:t>
            </a:r>
            <a:endParaRPr lang="en-US" altLang="zh-CN" sz="1400" b="1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   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商铺用户在发货时自动调用，修改订单状态并创建配送信息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465F4C7-EED4-CBB6-6B4A-A24F4FF4B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91108"/>
            <a:ext cx="5737990" cy="3277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227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8688F-2443-C320-31D2-2C54A9890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3ADFDFA-2C04-138B-CA7A-BB5148E7DEE5}"/>
              </a:ext>
            </a:extLst>
          </p:cNvPr>
          <p:cNvSpPr txBox="1"/>
          <p:nvPr/>
        </p:nvSpPr>
        <p:spPr>
          <a:xfrm>
            <a:off x="785794" y="402923"/>
            <a:ext cx="86520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u="sng" dirty="0">
                <a:solidFill>
                  <a:srgbClr val="4F7FBD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0AD7BA0-B5EF-0C13-ED0F-4121F631C0CF}"/>
              </a:ext>
            </a:extLst>
          </p:cNvPr>
          <p:cNvSpPr/>
          <p:nvPr/>
        </p:nvSpPr>
        <p:spPr>
          <a:xfrm>
            <a:off x="1651000" y="433700"/>
            <a:ext cx="3225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Part Four</a:t>
            </a:r>
          </a:p>
          <a:p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功能实现</a:t>
            </a:r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</a:t>
            </a:r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订单服务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17BB88F-9334-F07E-C694-8462605D5F07}"/>
              </a:ext>
            </a:extLst>
          </p:cNvPr>
          <p:cNvSpPr/>
          <p:nvPr/>
        </p:nvSpPr>
        <p:spPr>
          <a:xfrm>
            <a:off x="656542" y="1661573"/>
            <a:ext cx="4897591" cy="4756160"/>
          </a:xfrm>
          <a:prstGeom prst="rect">
            <a:avLst/>
          </a:prstGeom>
          <a:solidFill>
            <a:srgbClr val="E4E4E4"/>
          </a:solidFill>
          <a:ln w="1905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A8F3E31-1F69-60C2-3805-B5749098A1C5}"/>
              </a:ext>
            </a:extLst>
          </p:cNvPr>
          <p:cNvSpPr/>
          <p:nvPr/>
        </p:nvSpPr>
        <p:spPr>
          <a:xfrm>
            <a:off x="961724" y="1829443"/>
            <a:ext cx="34948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订单服务（端口 </a:t>
            </a:r>
            <a:r>
              <a:rPr lang="en-US" altLang="zh-CN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8085</a:t>
            </a:r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3429342-FBEB-B4F1-0DA0-5943E564749B}"/>
              </a:ext>
            </a:extLst>
          </p:cNvPr>
          <p:cNvSpPr/>
          <p:nvPr/>
        </p:nvSpPr>
        <p:spPr>
          <a:xfrm>
            <a:off x="961724" y="2291108"/>
            <a:ext cx="4167052" cy="3425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系统核心业务服务</a:t>
            </a: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 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  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由用户调用创建，默认状态为待支付</a:t>
            </a: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/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待发货（</a:t>
            </a: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0/1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），由于当前模拟支付，在下单时自动支付</a:t>
            </a: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  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在商铺选择发货时，调用</a:t>
            </a: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logistics-service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自动生成物流路径，同时调用</a:t>
            </a: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shop-service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扣减库存</a:t>
            </a: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  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订单信息内包含商品快照，在创建时存储当时的商品信息，避免商品修改影响历史订单</a:t>
            </a: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  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提供订单回滚，用于在订单取消后库存减扣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4769734-9876-047E-279C-3EF6582D1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339" y="784377"/>
            <a:ext cx="4810937" cy="5640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519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0402C-02CB-209E-621E-1C4376DF4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EC28BBF-CBF5-BADC-9070-1995304862A6}"/>
              </a:ext>
            </a:extLst>
          </p:cNvPr>
          <p:cNvSpPr txBox="1"/>
          <p:nvPr/>
        </p:nvSpPr>
        <p:spPr>
          <a:xfrm>
            <a:off x="785794" y="402923"/>
            <a:ext cx="86520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u="sng" dirty="0">
                <a:solidFill>
                  <a:srgbClr val="4F7FBD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6A3967-F848-133C-9DD2-F8DCF73856D0}"/>
              </a:ext>
            </a:extLst>
          </p:cNvPr>
          <p:cNvSpPr/>
          <p:nvPr/>
        </p:nvSpPr>
        <p:spPr>
          <a:xfrm>
            <a:off x="1651000" y="433700"/>
            <a:ext cx="3225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Part Four</a:t>
            </a:r>
          </a:p>
          <a:p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功能实现</a:t>
            </a:r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</a:t>
            </a:r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司机服务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9CD4523-B54D-D083-FC48-C4033ACC9C6E}"/>
              </a:ext>
            </a:extLst>
          </p:cNvPr>
          <p:cNvSpPr/>
          <p:nvPr/>
        </p:nvSpPr>
        <p:spPr>
          <a:xfrm>
            <a:off x="656542" y="1661573"/>
            <a:ext cx="4897591" cy="4756160"/>
          </a:xfrm>
          <a:prstGeom prst="rect">
            <a:avLst/>
          </a:prstGeom>
          <a:solidFill>
            <a:srgbClr val="E4E4E4"/>
          </a:solidFill>
          <a:ln w="1905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0E1DDBF-FEB9-248B-D50D-5BFF8125D0CF}"/>
              </a:ext>
            </a:extLst>
          </p:cNvPr>
          <p:cNvSpPr/>
          <p:nvPr/>
        </p:nvSpPr>
        <p:spPr>
          <a:xfrm>
            <a:off x="961724" y="1829443"/>
            <a:ext cx="34948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司机服务（端口 </a:t>
            </a:r>
            <a:r>
              <a:rPr lang="en-US" altLang="zh-CN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8086</a:t>
            </a:r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6506CC9-8E9D-21D9-C1DD-41F9A53BDADE}"/>
              </a:ext>
            </a:extLst>
          </p:cNvPr>
          <p:cNvSpPr/>
          <p:nvPr/>
        </p:nvSpPr>
        <p:spPr>
          <a:xfrm>
            <a:off x="961724" y="2291108"/>
            <a:ext cx="4167052" cy="25857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司机与车辆管理</a:t>
            </a:r>
            <a:endParaRPr lang="en-US" altLang="zh-CN" sz="1400" b="1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  司机个人信息维护</a:t>
            </a:r>
            <a:endParaRPr lang="en-US" altLang="zh-CN" sz="1400" b="1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 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司机名下车辆绑定，一名司机可绑定多辆车</a:t>
            </a: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运输任务管理</a:t>
            </a: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实时位置上报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B5D7691-CEFD-C533-BCE7-AA7196EFB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6217"/>
            <a:ext cx="4453808" cy="291492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09C809A-5BDB-B02D-7172-DEDE800F17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3155"/>
          <a:stretch>
            <a:fillRect/>
          </a:stretch>
        </p:blipFill>
        <p:spPr>
          <a:xfrm>
            <a:off x="6096000" y="3096297"/>
            <a:ext cx="4453808" cy="3397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452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2218C-AFE1-73EC-83E8-CC49C7EC0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EEBEF43-4E89-21DF-F3FC-1E35BEA53DFE}"/>
              </a:ext>
            </a:extLst>
          </p:cNvPr>
          <p:cNvSpPr txBox="1"/>
          <p:nvPr/>
        </p:nvSpPr>
        <p:spPr>
          <a:xfrm>
            <a:off x="785794" y="402923"/>
            <a:ext cx="86520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u="sng" dirty="0">
                <a:solidFill>
                  <a:srgbClr val="4F7FBD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5B3ED0F-9BBC-1116-A156-872FF88B5477}"/>
              </a:ext>
            </a:extLst>
          </p:cNvPr>
          <p:cNvSpPr/>
          <p:nvPr/>
        </p:nvSpPr>
        <p:spPr>
          <a:xfrm>
            <a:off x="1651000" y="433700"/>
            <a:ext cx="3225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Part Four</a:t>
            </a:r>
          </a:p>
          <a:p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功能实现</a:t>
            </a:r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</a:t>
            </a:r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司机服务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19354F-EC6B-6800-8D4F-C60FF051F431}"/>
              </a:ext>
            </a:extLst>
          </p:cNvPr>
          <p:cNvSpPr/>
          <p:nvPr/>
        </p:nvSpPr>
        <p:spPr>
          <a:xfrm>
            <a:off x="656542" y="1661573"/>
            <a:ext cx="4897591" cy="4756160"/>
          </a:xfrm>
          <a:prstGeom prst="rect">
            <a:avLst/>
          </a:prstGeom>
          <a:solidFill>
            <a:srgbClr val="E4E4E4"/>
          </a:solidFill>
          <a:ln w="1905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BB7CACA-8F65-9F12-46EC-FF00E19012AF}"/>
              </a:ext>
            </a:extLst>
          </p:cNvPr>
          <p:cNvSpPr/>
          <p:nvPr/>
        </p:nvSpPr>
        <p:spPr>
          <a:xfrm>
            <a:off x="961724" y="1829443"/>
            <a:ext cx="34948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司机服务（端口 </a:t>
            </a:r>
            <a:r>
              <a:rPr lang="en-US" altLang="zh-CN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8086</a:t>
            </a:r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19BD45-C456-DA60-F5B8-7A1DDD815FB8}"/>
              </a:ext>
            </a:extLst>
          </p:cNvPr>
          <p:cNvSpPr/>
          <p:nvPr/>
        </p:nvSpPr>
        <p:spPr>
          <a:xfrm>
            <a:off x="961724" y="2291108"/>
            <a:ext cx="4167052" cy="25857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司机与车辆管理</a:t>
            </a: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运输任务管理</a:t>
            </a:r>
            <a:endParaRPr lang="en-US" altLang="zh-CN" sz="1400" b="1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  接取待配送订单</a:t>
            </a:r>
            <a:endParaRPr lang="en-US" altLang="zh-CN" sz="1400" b="1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 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完成运输后调用</a:t>
            </a: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order-service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修改订单状态</a:t>
            </a: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实时位置上报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70F8251-F842-8539-9C4F-00F1E03B6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873" y="1829443"/>
            <a:ext cx="6109444" cy="4119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432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E7A8D-0CD6-9FC7-381F-32CB1762D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E0D1765-6C36-CA74-B03F-19B8A58DF0EE}"/>
              </a:ext>
            </a:extLst>
          </p:cNvPr>
          <p:cNvSpPr txBox="1"/>
          <p:nvPr/>
        </p:nvSpPr>
        <p:spPr>
          <a:xfrm>
            <a:off x="785794" y="402923"/>
            <a:ext cx="86520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u="sng" dirty="0">
                <a:solidFill>
                  <a:srgbClr val="4F7FBD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0163B7C-AB90-FC90-B504-DEE034EA1D5A}"/>
              </a:ext>
            </a:extLst>
          </p:cNvPr>
          <p:cNvSpPr/>
          <p:nvPr/>
        </p:nvSpPr>
        <p:spPr>
          <a:xfrm>
            <a:off x="1651000" y="433700"/>
            <a:ext cx="3225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Part Four</a:t>
            </a:r>
          </a:p>
          <a:p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功能实现</a:t>
            </a:r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</a:t>
            </a:r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司机服务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DF24485-5E73-1CDF-0C6B-2D28A10D190F}"/>
              </a:ext>
            </a:extLst>
          </p:cNvPr>
          <p:cNvSpPr/>
          <p:nvPr/>
        </p:nvSpPr>
        <p:spPr>
          <a:xfrm>
            <a:off x="656542" y="1661573"/>
            <a:ext cx="4897591" cy="4756160"/>
          </a:xfrm>
          <a:prstGeom prst="rect">
            <a:avLst/>
          </a:prstGeom>
          <a:solidFill>
            <a:srgbClr val="E4E4E4"/>
          </a:solidFill>
          <a:ln w="1905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6A7376C-5755-C805-A1E1-114B88406FF7}"/>
              </a:ext>
            </a:extLst>
          </p:cNvPr>
          <p:cNvSpPr/>
          <p:nvPr/>
        </p:nvSpPr>
        <p:spPr>
          <a:xfrm>
            <a:off x="961724" y="1829443"/>
            <a:ext cx="34948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司机服务（端口 </a:t>
            </a:r>
            <a:r>
              <a:rPr lang="en-US" altLang="zh-CN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8086</a:t>
            </a:r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D70D81-5F07-EA2B-7085-0F006FD111E7}"/>
              </a:ext>
            </a:extLst>
          </p:cNvPr>
          <p:cNvSpPr/>
          <p:nvPr/>
        </p:nvSpPr>
        <p:spPr>
          <a:xfrm>
            <a:off x="961724" y="2291108"/>
            <a:ext cx="4167052" cy="25857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司机与车辆管理</a:t>
            </a: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运输任务管理</a:t>
            </a: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实时位置上报</a:t>
            </a:r>
            <a:endParaRPr lang="en-US" altLang="zh-CN" sz="1400" b="1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  （当前在</a:t>
            </a: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logistics-service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中）</a:t>
            </a:r>
            <a:endParaRPr lang="en-US" altLang="zh-CN" sz="1400" b="1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   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定期上报</a:t>
            </a: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GPS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位置，更新轨迹信息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7C26BBC-E681-647E-3F88-337B24964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796" y="1102206"/>
            <a:ext cx="5455410" cy="531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601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A9F73-74CF-9E64-FFD3-9C967C759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B9CF783-1949-A71B-4270-B7FA7C92D0CA}"/>
              </a:ext>
            </a:extLst>
          </p:cNvPr>
          <p:cNvSpPr txBox="1"/>
          <p:nvPr/>
        </p:nvSpPr>
        <p:spPr>
          <a:xfrm>
            <a:off x="785794" y="402923"/>
            <a:ext cx="86520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u="sng" dirty="0">
                <a:solidFill>
                  <a:srgbClr val="4F7FBD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2955039-57F9-ED21-8F72-0B33F7F1B90A}"/>
              </a:ext>
            </a:extLst>
          </p:cNvPr>
          <p:cNvSpPr/>
          <p:nvPr/>
        </p:nvSpPr>
        <p:spPr>
          <a:xfrm>
            <a:off x="1651000" y="433700"/>
            <a:ext cx="3225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Part Four</a:t>
            </a:r>
          </a:p>
          <a:p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功能实现</a:t>
            </a:r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</a:t>
            </a:r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路径规划服务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0A6F929-D4C8-BB72-7327-B3246BEC7E72}"/>
              </a:ext>
            </a:extLst>
          </p:cNvPr>
          <p:cNvSpPr/>
          <p:nvPr/>
        </p:nvSpPr>
        <p:spPr>
          <a:xfrm>
            <a:off x="656542" y="1661573"/>
            <a:ext cx="4897591" cy="4756160"/>
          </a:xfrm>
          <a:prstGeom prst="rect">
            <a:avLst/>
          </a:prstGeom>
          <a:solidFill>
            <a:srgbClr val="E4E4E4"/>
          </a:solidFill>
          <a:ln w="1905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60B161-B172-F3B1-631C-8C6A3A109734}"/>
              </a:ext>
            </a:extLst>
          </p:cNvPr>
          <p:cNvSpPr/>
          <p:nvPr/>
        </p:nvSpPr>
        <p:spPr>
          <a:xfrm>
            <a:off x="961724" y="1829443"/>
            <a:ext cx="41104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路径规划服务（端口 </a:t>
            </a:r>
            <a:r>
              <a:rPr lang="en-US" altLang="zh-CN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8087</a:t>
            </a:r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E94BC78-EEF9-1754-79EC-60DC4FFA1F42}"/>
              </a:ext>
            </a:extLst>
          </p:cNvPr>
          <p:cNvSpPr/>
          <p:nvPr/>
        </p:nvSpPr>
        <p:spPr>
          <a:xfrm>
            <a:off x="961724" y="2291108"/>
            <a:ext cx="4167052" cy="3145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存储物流信息</a:t>
            </a:r>
            <a:endParaRPr lang="en-US" altLang="zh-CN" sz="1400" b="1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 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在创建物流订单时，执行路径规划并将计划路径存储</a:t>
            </a:r>
            <a:endParaRPr lang="en-US" altLang="zh-CN" sz="1400" b="1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 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存储实时上报的位置信息，形成历史路径信息，用于前端展示和数据分析</a:t>
            </a:r>
            <a:endParaRPr lang="en-US" altLang="zh-CN" sz="1400" b="1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规划物流路径</a:t>
            </a: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zh-CN" altLang="en-US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F55891A-2091-BCB2-F194-40E137039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315" y="2291108"/>
            <a:ext cx="6008067" cy="267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259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98A74-A99D-3259-C841-A52D949ED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D52E308-82F1-877A-3F08-9347F502BC47}"/>
              </a:ext>
            </a:extLst>
          </p:cNvPr>
          <p:cNvSpPr txBox="1"/>
          <p:nvPr/>
        </p:nvSpPr>
        <p:spPr>
          <a:xfrm>
            <a:off x="785794" y="402923"/>
            <a:ext cx="86520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u="sng" dirty="0">
                <a:solidFill>
                  <a:srgbClr val="4F7FBD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5F9AB1F-77C5-848F-A083-A51B435A1705}"/>
              </a:ext>
            </a:extLst>
          </p:cNvPr>
          <p:cNvSpPr/>
          <p:nvPr/>
        </p:nvSpPr>
        <p:spPr>
          <a:xfrm>
            <a:off x="1651000" y="433700"/>
            <a:ext cx="3225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Part Four</a:t>
            </a:r>
          </a:p>
          <a:p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功能实现</a:t>
            </a:r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</a:t>
            </a:r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路径规划服务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962A68B-F3B1-ECC8-9378-DA53A288E802}"/>
              </a:ext>
            </a:extLst>
          </p:cNvPr>
          <p:cNvSpPr/>
          <p:nvPr/>
        </p:nvSpPr>
        <p:spPr>
          <a:xfrm>
            <a:off x="656542" y="1661573"/>
            <a:ext cx="4897591" cy="4756160"/>
          </a:xfrm>
          <a:prstGeom prst="rect">
            <a:avLst/>
          </a:prstGeom>
          <a:solidFill>
            <a:srgbClr val="E4E4E4"/>
          </a:solidFill>
          <a:ln w="1905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3D0AAFB-9E00-DE2C-5367-313D87AFE6F9}"/>
              </a:ext>
            </a:extLst>
          </p:cNvPr>
          <p:cNvSpPr/>
          <p:nvPr/>
        </p:nvSpPr>
        <p:spPr>
          <a:xfrm>
            <a:off x="961724" y="1829443"/>
            <a:ext cx="41104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路径规划服务（端口 </a:t>
            </a:r>
            <a:r>
              <a:rPr lang="en-US" altLang="zh-CN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8087</a:t>
            </a:r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E30B791-18FE-44D8-BAE8-59505EFD42C2}"/>
              </a:ext>
            </a:extLst>
          </p:cNvPr>
          <p:cNvSpPr/>
          <p:nvPr/>
        </p:nvSpPr>
        <p:spPr>
          <a:xfrm>
            <a:off x="961724" y="2291108"/>
            <a:ext cx="4167052" cy="2865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存储物流信息</a:t>
            </a: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规划物流路径</a:t>
            </a:r>
            <a:endParaRPr lang="en-US" altLang="zh-CN" sz="1400" b="1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 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使用</a:t>
            </a:r>
            <a:r>
              <a:rPr lang="en-US" altLang="zh-CN" sz="1400" b="1" dirty="0" err="1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GraphHopper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读取并缓存</a:t>
            </a: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OpenStreetMap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信息</a:t>
            </a:r>
            <a:endParaRPr lang="en-US" altLang="zh-CN" sz="1400" b="1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 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使用大模型（</a:t>
            </a:r>
            <a:r>
              <a:rPr lang="en-US" altLang="zh-CN" sz="1400" b="1" dirty="0" err="1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Deepseek</a:t>
            </a: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API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）结合</a:t>
            </a: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A*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算法提供规划好的路径</a:t>
            </a: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 </a:t>
            </a: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  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配置文件中</a:t>
            </a:r>
            <a:r>
              <a:rPr lang="en-US" altLang="zh-CN" sz="1400" b="1" dirty="0" err="1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routing.strategy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来决定选择路径规划方法</a:t>
            </a:r>
            <a:endParaRPr lang="zh-CN" altLang="en-US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5387355-63F0-3003-9D95-A747068E2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56024"/>
            <a:ext cx="5765797" cy="536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430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AC0E0-A49D-D855-27AF-CA3A0A765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1A8F32D-54F8-A56D-7F29-D6682C37657C}"/>
              </a:ext>
            </a:extLst>
          </p:cNvPr>
          <p:cNvSpPr txBox="1"/>
          <p:nvPr/>
        </p:nvSpPr>
        <p:spPr>
          <a:xfrm>
            <a:off x="785794" y="402923"/>
            <a:ext cx="86520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u="sng" dirty="0">
                <a:solidFill>
                  <a:srgbClr val="4F7FBD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7562ED-0F67-9ADF-7796-64FF47F56664}"/>
              </a:ext>
            </a:extLst>
          </p:cNvPr>
          <p:cNvSpPr/>
          <p:nvPr/>
        </p:nvSpPr>
        <p:spPr>
          <a:xfrm>
            <a:off x="1651000" y="433700"/>
            <a:ext cx="3225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Part Four</a:t>
            </a:r>
          </a:p>
          <a:p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功能实现</a:t>
            </a:r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</a:t>
            </a:r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路径规划服务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8A38C67-BF6C-2673-EA90-4C79D24958F7}"/>
              </a:ext>
            </a:extLst>
          </p:cNvPr>
          <p:cNvSpPr/>
          <p:nvPr/>
        </p:nvSpPr>
        <p:spPr>
          <a:xfrm>
            <a:off x="656542" y="1661573"/>
            <a:ext cx="4897591" cy="4756160"/>
          </a:xfrm>
          <a:prstGeom prst="rect">
            <a:avLst/>
          </a:prstGeom>
          <a:solidFill>
            <a:srgbClr val="E4E4E4"/>
          </a:solidFill>
          <a:ln w="1905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E6FD26-8F95-3265-B0DA-F4D970C5712E}"/>
              </a:ext>
            </a:extLst>
          </p:cNvPr>
          <p:cNvSpPr/>
          <p:nvPr/>
        </p:nvSpPr>
        <p:spPr>
          <a:xfrm>
            <a:off x="961724" y="1829443"/>
            <a:ext cx="41104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路径规划服务（端口 </a:t>
            </a:r>
            <a:r>
              <a:rPr lang="en-US" altLang="zh-CN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8087</a:t>
            </a:r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0671B8-D98B-22BC-7520-3882209BBECD}"/>
              </a:ext>
            </a:extLst>
          </p:cNvPr>
          <p:cNvSpPr/>
          <p:nvPr/>
        </p:nvSpPr>
        <p:spPr>
          <a:xfrm>
            <a:off x="961724" y="2291108"/>
            <a:ext cx="4167052" cy="2865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存储物流信息</a:t>
            </a: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规划物流路径</a:t>
            </a:r>
            <a:endParaRPr lang="en-US" altLang="zh-CN" sz="1400" b="1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 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使用</a:t>
            </a:r>
            <a:r>
              <a:rPr lang="en-US" altLang="zh-CN" sz="1400" b="1" dirty="0" err="1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GraphHopper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读取并缓存</a:t>
            </a: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OpenStreetMap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信息</a:t>
            </a:r>
            <a:endParaRPr lang="en-US" altLang="zh-CN" sz="1400" b="1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 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使用大模型（</a:t>
            </a:r>
            <a:r>
              <a:rPr lang="en-US" altLang="zh-CN" sz="1400" b="1" dirty="0" err="1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Deepseek</a:t>
            </a: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API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）结合</a:t>
            </a: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A*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算法提供规划好的路径</a:t>
            </a: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 </a:t>
            </a: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  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配置文件中</a:t>
            </a:r>
            <a:r>
              <a:rPr lang="en-US" altLang="zh-CN" sz="1400" b="1" dirty="0" err="1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routing.strategy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来决定选择路径规划方法</a:t>
            </a:r>
            <a:endParaRPr lang="zh-CN" altLang="en-US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56733C8-80C1-F452-B7D9-E137A5AE4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976" y="1910956"/>
            <a:ext cx="6191024" cy="421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127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698BC-1E73-6FEC-880B-83AE0DFDB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E4CC573-EF85-44DE-3F1B-C7199B8A2647}"/>
              </a:ext>
            </a:extLst>
          </p:cNvPr>
          <p:cNvSpPr txBox="1"/>
          <p:nvPr/>
        </p:nvSpPr>
        <p:spPr>
          <a:xfrm>
            <a:off x="785794" y="402923"/>
            <a:ext cx="86520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u="sng" dirty="0">
                <a:solidFill>
                  <a:srgbClr val="4F7FBD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5807BE-8390-188A-ADD0-D73C5FC5F407}"/>
              </a:ext>
            </a:extLst>
          </p:cNvPr>
          <p:cNvSpPr/>
          <p:nvPr/>
        </p:nvSpPr>
        <p:spPr>
          <a:xfrm>
            <a:off x="1651000" y="433700"/>
            <a:ext cx="3225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Part Four</a:t>
            </a:r>
          </a:p>
          <a:p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功能实现</a:t>
            </a:r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</a:t>
            </a:r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前端实现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51FE0AB-726D-E18F-0218-211AE74872E8}"/>
              </a:ext>
            </a:extLst>
          </p:cNvPr>
          <p:cNvSpPr/>
          <p:nvPr/>
        </p:nvSpPr>
        <p:spPr>
          <a:xfrm>
            <a:off x="656542" y="1661573"/>
            <a:ext cx="4897591" cy="4756160"/>
          </a:xfrm>
          <a:prstGeom prst="rect">
            <a:avLst/>
          </a:prstGeom>
          <a:solidFill>
            <a:srgbClr val="E4E4E4"/>
          </a:solidFill>
          <a:ln w="1905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060E28C-C854-6DCC-A93E-5F41EAECCAE1}"/>
              </a:ext>
            </a:extLst>
          </p:cNvPr>
          <p:cNvSpPr/>
          <p:nvPr/>
        </p:nvSpPr>
        <p:spPr>
          <a:xfrm>
            <a:off x="961724" y="1829443"/>
            <a:ext cx="34948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前端页面（端口 </a:t>
            </a:r>
            <a:r>
              <a:rPr lang="en-US" altLang="zh-CN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8087</a:t>
            </a:r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8FBAE80-0BA8-D04A-956D-89E60E6B4744}"/>
              </a:ext>
            </a:extLst>
          </p:cNvPr>
          <p:cNvSpPr/>
          <p:nvPr/>
        </p:nvSpPr>
        <p:spPr>
          <a:xfrm>
            <a:off x="961724" y="2291108"/>
            <a:ext cx="4167052" cy="3425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</a:t>
            </a:r>
            <a:r>
              <a:rPr lang="en-US" altLang="zh-CN" sz="1400" b="1" dirty="0" err="1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Pinia</a:t>
            </a: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状态管理</a:t>
            </a:r>
            <a:endParaRPr lang="en-US" altLang="zh-CN" sz="1400" b="1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 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利用</a:t>
            </a:r>
            <a:r>
              <a:rPr lang="en-US" altLang="zh-CN" sz="1400" b="1" dirty="0" err="1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userStore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存储登录信息（</a:t>
            </a: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Token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）</a:t>
            </a:r>
            <a:endParaRPr lang="en-US" altLang="zh-CN" sz="1400" b="1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Vue Router 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路由守卫</a:t>
            </a: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Axios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状态管理</a:t>
            </a: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46F37E8-26A8-0254-139D-AAB88ED15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05496"/>
            <a:ext cx="5800852" cy="389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349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0CA52-A97E-84E7-D9DB-43B529457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94E464E-CE80-5723-CE2E-744CF5A8B1D7}"/>
              </a:ext>
            </a:extLst>
          </p:cNvPr>
          <p:cNvSpPr txBox="1"/>
          <p:nvPr/>
        </p:nvSpPr>
        <p:spPr>
          <a:xfrm>
            <a:off x="785794" y="402923"/>
            <a:ext cx="86520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u="sng" dirty="0">
                <a:solidFill>
                  <a:srgbClr val="4F7FBD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3325363-DA8F-5392-E4EB-42A26A926BA4}"/>
              </a:ext>
            </a:extLst>
          </p:cNvPr>
          <p:cNvSpPr/>
          <p:nvPr/>
        </p:nvSpPr>
        <p:spPr>
          <a:xfrm>
            <a:off x="1651000" y="433700"/>
            <a:ext cx="3225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Part Four</a:t>
            </a:r>
          </a:p>
          <a:p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功能实现</a:t>
            </a:r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</a:t>
            </a:r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前端实现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FD5AAD5-69CF-5AA1-6551-F4FDEA014A76}"/>
              </a:ext>
            </a:extLst>
          </p:cNvPr>
          <p:cNvSpPr/>
          <p:nvPr/>
        </p:nvSpPr>
        <p:spPr>
          <a:xfrm>
            <a:off x="656542" y="1661573"/>
            <a:ext cx="4897591" cy="4756160"/>
          </a:xfrm>
          <a:prstGeom prst="rect">
            <a:avLst/>
          </a:prstGeom>
          <a:solidFill>
            <a:srgbClr val="E4E4E4"/>
          </a:solidFill>
          <a:ln w="1905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D84BB46-7478-15F9-689F-6D0E87FABBC3}"/>
              </a:ext>
            </a:extLst>
          </p:cNvPr>
          <p:cNvSpPr/>
          <p:nvPr/>
        </p:nvSpPr>
        <p:spPr>
          <a:xfrm>
            <a:off x="961724" y="1829443"/>
            <a:ext cx="34948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前端页面（端口 </a:t>
            </a:r>
            <a:r>
              <a:rPr lang="en-US" altLang="zh-CN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8087</a:t>
            </a:r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6E0667C-81A8-5413-4B5B-72AD8BFFB389}"/>
              </a:ext>
            </a:extLst>
          </p:cNvPr>
          <p:cNvSpPr/>
          <p:nvPr/>
        </p:nvSpPr>
        <p:spPr>
          <a:xfrm>
            <a:off x="961724" y="2291108"/>
            <a:ext cx="4167052" cy="3986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</a:t>
            </a:r>
            <a:r>
              <a:rPr lang="en-US" altLang="zh-CN" sz="1400" dirty="0" err="1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Pinia</a:t>
            </a: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状态管理</a:t>
            </a: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Vue Router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路由守卫</a:t>
            </a:r>
            <a:endParaRPr lang="en-US" altLang="zh-CN" sz="1400" b="1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 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以顾客路由管理为例</a:t>
            </a:r>
            <a:endParaRPr lang="en-US" altLang="zh-CN" sz="1400" b="1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 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用元数据控制角色权限，未登录跳转至登录页面，其他角色跳转至该角色首页</a:t>
            </a:r>
            <a:endParaRPr lang="en-US" altLang="zh-CN" sz="1400" b="1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Axios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状态管理</a:t>
            </a: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9AD49C6-8704-7553-4F46-2879FC0EA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540" y="895927"/>
            <a:ext cx="4938736" cy="559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486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33B2B-6233-9B04-D921-07CB0A35D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E639258-4B3D-A2AB-717F-CD5BFF9F3E3A}"/>
              </a:ext>
            </a:extLst>
          </p:cNvPr>
          <p:cNvSpPr txBox="1"/>
          <p:nvPr/>
        </p:nvSpPr>
        <p:spPr>
          <a:xfrm>
            <a:off x="785794" y="402923"/>
            <a:ext cx="86520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u="sng" dirty="0">
                <a:solidFill>
                  <a:srgbClr val="4F7FBD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8CB4876-4DD7-3014-A7D8-31EB55C569C5}"/>
              </a:ext>
            </a:extLst>
          </p:cNvPr>
          <p:cNvSpPr/>
          <p:nvPr/>
        </p:nvSpPr>
        <p:spPr>
          <a:xfrm>
            <a:off x="1651000" y="433700"/>
            <a:ext cx="3225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Part Four</a:t>
            </a:r>
          </a:p>
          <a:p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功能实现</a:t>
            </a:r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</a:t>
            </a:r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前端实现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63CCD00-6E85-3E15-D477-E26C38504F37}"/>
              </a:ext>
            </a:extLst>
          </p:cNvPr>
          <p:cNvSpPr/>
          <p:nvPr/>
        </p:nvSpPr>
        <p:spPr>
          <a:xfrm>
            <a:off x="656542" y="1661573"/>
            <a:ext cx="4897591" cy="4756160"/>
          </a:xfrm>
          <a:prstGeom prst="rect">
            <a:avLst/>
          </a:prstGeom>
          <a:solidFill>
            <a:srgbClr val="E4E4E4"/>
          </a:solidFill>
          <a:ln w="1905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charset="-122"/>
              <a:ea typeface="字魂36号-正文宋楷" panose="02000000000000000000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C0B3B0-8B49-14BA-2775-290AF38A1921}"/>
              </a:ext>
            </a:extLst>
          </p:cNvPr>
          <p:cNvSpPr/>
          <p:nvPr/>
        </p:nvSpPr>
        <p:spPr>
          <a:xfrm>
            <a:off x="961724" y="1829443"/>
            <a:ext cx="34948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前端页面（端口 </a:t>
            </a:r>
            <a:r>
              <a:rPr lang="en-US" altLang="zh-CN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8087</a:t>
            </a:r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D5BDE9-AEFB-3253-317B-C0FD2ABF2BCB}"/>
              </a:ext>
            </a:extLst>
          </p:cNvPr>
          <p:cNvSpPr/>
          <p:nvPr/>
        </p:nvSpPr>
        <p:spPr>
          <a:xfrm>
            <a:off x="961724" y="2291108"/>
            <a:ext cx="4167052" cy="2865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</a:t>
            </a:r>
            <a:r>
              <a:rPr lang="en-US" altLang="zh-CN" sz="1400" dirty="0" err="1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Pinia</a:t>
            </a: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状态管理</a:t>
            </a: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Vue Router </a:t>
            </a:r>
            <a:r>
              <a:rPr lang="zh-CN" altLang="en-US" sz="14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路由守卫</a:t>
            </a: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- Axios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状态管理</a:t>
            </a:r>
            <a:endParaRPr lang="en-US" altLang="zh-CN" sz="1400" b="1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  </a:t>
            </a:r>
            <a:r>
              <a:rPr lang="zh-CN" altLang="en-US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 封装统一请求拦截，自动附带 </a:t>
            </a:r>
            <a:r>
              <a:rPr lang="en-US" altLang="zh-CN" sz="1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JWT Token</a:t>
            </a: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8A59F29-1809-DC55-B4AB-5CB478A274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501"/>
          <a:stretch>
            <a:fillRect/>
          </a:stretch>
        </p:blipFill>
        <p:spPr>
          <a:xfrm>
            <a:off x="6096000" y="2060275"/>
            <a:ext cx="5783649" cy="3852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624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74127" y="2557690"/>
            <a:ext cx="5826291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Part Five</a:t>
            </a:r>
          </a:p>
          <a:p>
            <a:r>
              <a:rPr lang="zh-CN" altLang="en-US" sz="5400" dirty="0">
                <a:solidFill>
                  <a:schemeClr val="bg1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项目亮点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413810" y="2713512"/>
            <a:ext cx="0" cy="1494421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 2"/>
          <p:cNvSpPr/>
          <p:nvPr/>
        </p:nvSpPr>
        <p:spPr>
          <a:xfrm>
            <a:off x="90805" y="1988185"/>
            <a:ext cx="6793230" cy="2743835"/>
          </a:xfrm>
          <a:prstGeom prst="roundRect">
            <a:avLst/>
          </a:prstGeom>
          <a:noFill/>
          <a:ln w="666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85794" y="402923"/>
            <a:ext cx="86520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u="sng" dirty="0">
                <a:solidFill>
                  <a:srgbClr val="4F7FBD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05</a:t>
            </a:r>
          </a:p>
        </p:txBody>
      </p:sp>
      <p:sp>
        <p:nvSpPr>
          <p:cNvPr id="4" name="矩形 3"/>
          <p:cNvSpPr/>
          <p:nvPr/>
        </p:nvSpPr>
        <p:spPr>
          <a:xfrm>
            <a:off x="1651000" y="433700"/>
            <a:ext cx="219286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Part Five</a:t>
            </a:r>
          </a:p>
          <a:p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项目亮点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85794" y="402923"/>
            <a:ext cx="86520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u="sng" dirty="0">
                <a:solidFill>
                  <a:srgbClr val="4F7FBD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05</a:t>
            </a:r>
          </a:p>
        </p:txBody>
      </p:sp>
      <p:sp>
        <p:nvSpPr>
          <p:cNvPr id="4" name="矩形 3"/>
          <p:cNvSpPr/>
          <p:nvPr/>
        </p:nvSpPr>
        <p:spPr>
          <a:xfrm>
            <a:off x="1651000" y="433700"/>
            <a:ext cx="219286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Part Five</a:t>
            </a:r>
          </a:p>
          <a:p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项目亮点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74127" y="2557690"/>
            <a:ext cx="5826291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Part Six</a:t>
            </a:r>
          </a:p>
          <a:p>
            <a:r>
              <a:rPr lang="zh-CN" altLang="en-US" sz="5400" dirty="0">
                <a:solidFill>
                  <a:schemeClr val="bg1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功能展示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413810" y="2713512"/>
            <a:ext cx="0" cy="1494421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 2"/>
          <p:cNvSpPr/>
          <p:nvPr/>
        </p:nvSpPr>
        <p:spPr>
          <a:xfrm>
            <a:off x="90805" y="1988185"/>
            <a:ext cx="6793230" cy="2743835"/>
          </a:xfrm>
          <a:prstGeom prst="roundRect">
            <a:avLst/>
          </a:prstGeom>
          <a:noFill/>
          <a:ln w="666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E659D-5394-FB87-1F3A-68A305A7B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06656F7-C081-E985-7448-A75BBA541142}"/>
              </a:ext>
            </a:extLst>
          </p:cNvPr>
          <p:cNvSpPr txBox="1"/>
          <p:nvPr/>
        </p:nvSpPr>
        <p:spPr>
          <a:xfrm>
            <a:off x="574127" y="2557690"/>
            <a:ext cx="58262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Part Seven</a:t>
            </a:r>
          </a:p>
          <a:p>
            <a:r>
              <a:rPr lang="zh-CN" altLang="en-US" sz="5400" dirty="0">
                <a:solidFill>
                  <a:schemeClr val="bg1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后续计划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563E4F6-8A63-5F38-B3F0-CAB6E43E3782}"/>
              </a:ext>
            </a:extLst>
          </p:cNvPr>
          <p:cNvCxnSpPr/>
          <p:nvPr/>
        </p:nvCxnSpPr>
        <p:spPr>
          <a:xfrm>
            <a:off x="413810" y="2713512"/>
            <a:ext cx="0" cy="1494421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 2">
            <a:extLst>
              <a:ext uri="{FF2B5EF4-FFF2-40B4-BE49-F238E27FC236}">
                <a16:creationId xmlns:a16="http://schemas.microsoft.com/office/drawing/2014/main" id="{1A5C6460-69F7-6F59-CC3A-1A2EFCBC5E84}"/>
              </a:ext>
            </a:extLst>
          </p:cNvPr>
          <p:cNvSpPr/>
          <p:nvPr/>
        </p:nvSpPr>
        <p:spPr>
          <a:xfrm>
            <a:off x="90805" y="1988185"/>
            <a:ext cx="6793230" cy="2743835"/>
          </a:xfrm>
          <a:prstGeom prst="roundRect">
            <a:avLst/>
          </a:prstGeom>
          <a:noFill/>
          <a:ln w="666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35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FE28F-A103-02AA-206E-9B8FFF2D0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8838014-D1C5-7E91-B209-4D301EF83AD8}"/>
              </a:ext>
            </a:extLst>
          </p:cNvPr>
          <p:cNvSpPr txBox="1"/>
          <p:nvPr/>
        </p:nvSpPr>
        <p:spPr>
          <a:xfrm>
            <a:off x="785794" y="402923"/>
            <a:ext cx="86520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u="sng" dirty="0">
                <a:solidFill>
                  <a:srgbClr val="4F7FBD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07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244FEA2-1462-F1FC-97E5-C1C5A8784439}"/>
              </a:ext>
            </a:extLst>
          </p:cNvPr>
          <p:cNvSpPr/>
          <p:nvPr/>
        </p:nvSpPr>
        <p:spPr>
          <a:xfrm>
            <a:off x="1651000" y="433700"/>
            <a:ext cx="219286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Part Seven</a:t>
            </a:r>
          </a:p>
          <a:p>
            <a:r>
              <a:rPr lang="zh-CN" altLang="en-US" sz="20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后续计划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2901A35B-CDFD-2C4B-EB44-7521165EC59F}"/>
              </a:ext>
            </a:extLst>
          </p:cNvPr>
          <p:cNvGrpSpPr/>
          <p:nvPr/>
        </p:nvGrpSpPr>
        <p:grpSpPr>
          <a:xfrm>
            <a:off x="785794" y="1663741"/>
            <a:ext cx="2233886" cy="1925765"/>
            <a:chOff x="785794" y="1663741"/>
            <a:chExt cx="3116776" cy="2686878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3B293088-4EE0-CDC4-F474-3886AC441D38}"/>
                </a:ext>
              </a:extLst>
            </p:cNvPr>
            <p:cNvGrpSpPr/>
            <p:nvPr/>
          </p:nvGrpSpPr>
          <p:grpSpPr>
            <a:xfrm>
              <a:off x="785794" y="1663741"/>
              <a:ext cx="3116776" cy="2686878"/>
              <a:chOff x="785794" y="1663741"/>
              <a:chExt cx="3116776" cy="2686878"/>
            </a:xfrm>
          </p:grpSpPr>
          <p:grpSp>
            <p:nvGrpSpPr>
              <p:cNvPr id="5" name="组合 4">
                <a:extLst>
                  <a:ext uri="{FF2B5EF4-FFF2-40B4-BE49-F238E27FC236}">
                    <a16:creationId xmlns:a16="http://schemas.microsoft.com/office/drawing/2014/main" id="{79116DCF-9998-1D45-0584-7683EF07226A}"/>
                  </a:ext>
                </a:extLst>
              </p:cNvPr>
              <p:cNvGrpSpPr/>
              <p:nvPr/>
            </p:nvGrpSpPr>
            <p:grpSpPr>
              <a:xfrm flipH="1">
                <a:off x="785794" y="1663741"/>
                <a:ext cx="3116776" cy="2686878"/>
                <a:chOff x="3241129" y="967902"/>
                <a:chExt cx="5709753" cy="4922199"/>
              </a:xfrm>
            </p:grpSpPr>
            <p:grpSp>
              <p:nvGrpSpPr>
                <p:cNvPr id="6" name="组合 5">
                  <a:extLst>
                    <a:ext uri="{FF2B5EF4-FFF2-40B4-BE49-F238E27FC236}">
                      <a16:creationId xmlns:a16="http://schemas.microsoft.com/office/drawing/2014/main" id="{6743DB11-BD32-F858-59D4-113031AD45CD}"/>
                    </a:ext>
                  </a:extLst>
                </p:cNvPr>
                <p:cNvGrpSpPr/>
                <p:nvPr/>
              </p:nvGrpSpPr>
              <p:grpSpPr>
                <a:xfrm>
                  <a:off x="3241129" y="967902"/>
                  <a:ext cx="5709753" cy="4922199"/>
                  <a:chOff x="3241126" y="967902"/>
                  <a:chExt cx="5709748" cy="4922199"/>
                </a:xfrm>
              </p:grpSpPr>
              <p:sp>
                <p:nvSpPr>
                  <p:cNvPr id="9" name="等腰三角形 8">
                    <a:extLst>
                      <a:ext uri="{FF2B5EF4-FFF2-40B4-BE49-F238E27FC236}">
                        <a16:creationId xmlns:a16="http://schemas.microsoft.com/office/drawing/2014/main" id="{3A4F0E67-3538-9BC7-ED11-CD12B6A8E96E}"/>
                      </a:ext>
                    </a:extLst>
                  </p:cNvPr>
                  <p:cNvSpPr/>
                  <p:nvPr/>
                </p:nvSpPr>
                <p:spPr>
                  <a:xfrm>
                    <a:off x="3241126" y="967902"/>
                    <a:ext cx="5709747" cy="4922196"/>
                  </a:xfrm>
                  <a:prstGeom prst="triangle">
                    <a:avLst/>
                  </a:prstGeom>
                  <a:solidFill>
                    <a:srgbClr val="E9E9E9"/>
                  </a:solidFill>
                  <a:ln w="57150">
                    <a:solidFill>
                      <a:srgbClr val="2E75B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字魂36号-正文宋楷" panose="02000000000000000000" charset="-122"/>
                      <a:ea typeface="字魂36号-正文宋楷" panose="02000000000000000000" charset="-122"/>
                    </a:endParaRPr>
                  </a:p>
                </p:txBody>
              </p:sp>
              <p:cxnSp>
                <p:nvCxnSpPr>
                  <p:cNvPr id="10" name="直接连接符 9">
                    <a:extLst>
                      <a:ext uri="{FF2B5EF4-FFF2-40B4-BE49-F238E27FC236}">
                        <a16:creationId xmlns:a16="http://schemas.microsoft.com/office/drawing/2014/main" id="{8ACBA1F2-7C50-20F6-7850-FC5B5DD24A82}"/>
                      </a:ext>
                    </a:extLst>
                  </p:cNvPr>
                  <p:cNvCxnSpPr>
                    <a:stCxn id="9" idx="0"/>
                  </p:cNvCxnSpPr>
                  <p:nvPr/>
                </p:nvCxnSpPr>
                <p:spPr>
                  <a:xfrm rot="11303420" flipH="1" flipV="1">
                    <a:off x="5858688" y="985309"/>
                    <a:ext cx="474623" cy="3217900"/>
                  </a:xfrm>
                  <a:prstGeom prst="line">
                    <a:avLst/>
                  </a:prstGeom>
                  <a:ln w="76200">
                    <a:solidFill>
                      <a:srgbClr val="2E75B6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" name="直接连接符 10">
                    <a:extLst>
                      <a:ext uri="{FF2B5EF4-FFF2-40B4-BE49-F238E27FC236}">
                        <a16:creationId xmlns:a16="http://schemas.microsoft.com/office/drawing/2014/main" id="{E37A6F30-61D5-BFAE-239A-0BD5406D74F8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6093606" y="4240456"/>
                    <a:ext cx="2857268" cy="1649645"/>
                  </a:xfrm>
                  <a:prstGeom prst="line">
                    <a:avLst/>
                  </a:prstGeom>
                  <a:ln w="76200">
                    <a:solidFill>
                      <a:srgbClr val="2E75B6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" name="直接连接符 11">
                    <a:extLst>
                      <a:ext uri="{FF2B5EF4-FFF2-40B4-BE49-F238E27FC236}">
                        <a16:creationId xmlns:a16="http://schemas.microsoft.com/office/drawing/2014/main" id="{64C23C48-DEDD-7B54-27D5-4B71F438882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241127" y="4236312"/>
                    <a:ext cx="2864445" cy="1653789"/>
                  </a:xfrm>
                  <a:prstGeom prst="line">
                    <a:avLst/>
                  </a:prstGeom>
                  <a:ln w="76200">
                    <a:solidFill>
                      <a:srgbClr val="2E75B6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7" name="等腰三角形 6">
                  <a:extLst>
                    <a:ext uri="{FF2B5EF4-FFF2-40B4-BE49-F238E27FC236}">
                      <a16:creationId xmlns:a16="http://schemas.microsoft.com/office/drawing/2014/main" id="{56E38080-F600-6FB5-E5C4-CAE9E6AEC667}"/>
                    </a:ext>
                  </a:extLst>
                </p:cNvPr>
                <p:cNvSpPr/>
                <p:nvPr/>
              </p:nvSpPr>
              <p:spPr>
                <a:xfrm>
                  <a:off x="5353054" y="4334047"/>
                  <a:ext cx="1485901" cy="451940"/>
                </a:xfrm>
                <a:prstGeom prst="triangle">
                  <a:avLst/>
                </a:prstGeom>
                <a:solidFill>
                  <a:srgbClr val="1A989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字魂36号-正文宋楷" panose="02000000000000000000" charset="-122"/>
                    <a:ea typeface="字魂36号-正文宋楷" panose="02000000000000000000" charset="-122"/>
                  </a:endParaRPr>
                </a:p>
              </p:txBody>
            </p:sp>
            <p:sp>
              <p:nvSpPr>
                <p:cNvPr id="8" name="等腰三角形 16">
                  <a:extLst>
                    <a:ext uri="{FF2B5EF4-FFF2-40B4-BE49-F238E27FC236}">
                      <a16:creationId xmlns:a16="http://schemas.microsoft.com/office/drawing/2014/main" id="{7FE7DE36-720F-058B-C7C1-4AE51F5DA4EF}"/>
                    </a:ext>
                  </a:extLst>
                </p:cNvPr>
                <p:cNvSpPr/>
                <p:nvPr/>
              </p:nvSpPr>
              <p:spPr>
                <a:xfrm rot="16200000">
                  <a:off x="5407214" y="1449360"/>
                  <a:ext cx="742950" cy="451940"/>
                </a:xfrm>
                <a:custGeom>
                  <a:avLst/>
                  <a:gdLst>
                    <a:gd name="connsiteX0" fmla="*/ 0 w 1485900"/>
                    <a:gd name="connsiteY0" fmla="*/ 451940 h 451940"/>
                    <a:gd name="connsiteX1" fmla="*/ 742950 w 1485900"/>
                    <a:gd name="connsiteY1" fmla="*/ 0 h 451940"/>
                    <a:gd name="connsiteX2" fmla="*/ 1485900 w 1485900"/>
                    <a:gd name="connsiteY2" fmla="*/ 451940 h 451940"/>
                    <a:gd name="connsiteX3" fmla="*/ 0 w 1485900"/>
                    <a:gd name="connsiteY3" fmla="*/ 451940 h 451940"/>
                    <a:gd name="connsiteX0-1" fmla="*/ 123324 w 742950"/>
                    <a:gd name="connsiteY0-2" fmla="*/ 432689 h 451940"/>
                    <a:gd name="connsiteX1-3" fmla="*/ 0 w 742950"/>
                    <a:gd name="connsiteY1-4" fmla="*/ 0 h 451940"/>
                    <a:gd name="connsiteX2-5" fmla="*/ 742950 w 742950"/>
                    <a:gd name="connsiteY2-6" fmla="*/ 451940 h 451940"/>
                    <a:gd name="connsiteX3-7" fmla="*/ 123324 w 742950"/>
                    <a:gd name="connsiteY3-8" fmla="*/ 432689 h 451940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742950" h="451940">
                      <a:moveTo>
                        <a:pt x="123324" y="432689"/>
                      </a:moveTo>
                      <a:lnTo>
                        <a:pt x="0" y="0"/>
                      </a:lnTo>
                      <a:lnTo>
                        <a:pt x="742950" y="451940"/>
                      </a:lnTo>
                      <a:lnTo>
                        <a:pt x="123324" y="432689"/>
                      </a:lnTo>
                      <a:close/>
                    </a:path>
                  </a:pathLst>
                </a:cu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字魂36号-正文宋楷" panose="02000000000000000000" charset="-122"/>
                    <a:ea typeface="字魂36号-正文宋楷" panose="02000000000000000000" charset="-122"/>
                  </a:endParaRPr>
                </a:p>
              </p:txBody>
            </p:sp>
          </p:grpSp>
          <p:sp>
            <p:nvSpPr>
              <p:cNvPr id="29" name="等腰三角形 28">
                <a:extLst>
                  <a:ext uri="{FF2B5EF4-FFF2-40B4-BE49-F238E27FC236}">
                    <a16:creationId xmlns:a16="http://schemas.microsoft.com/office/drawing/2014/main" id="{2ACAAE9E-80EB-E198-B09B-AA44541DEA63}"/>
                  </a:ext>
                </a:extLst>
              </p:cNvPr>
              <p:cNvSpPr/>
              <p:nvPr/>
            </p:nvSpPr>
            <p:spPr>
              <a:xfrm rot="3600000">
                <a:off x="1376413" y="1905544"/>
                <a:ext cx="2567202" cy="2213104"/>
              </a:xfrm>
              <a:prstGeom prst="triangle">
                <a:avLst/>
              </a:prstGeom>
              <a:solidFill>
                <a:srgbClr val="E9E9E9"/>
              </a:solidFill>
              <a:ln>
                <a:solidFill>
                  <a:srgbClr val="2E75B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字魂36号-正文宋楷" panose="02000000000000000000" charset="-122"/>
                  <a:ea typeface="字魂36号-正文宋楷" panose="02000000000000000000" charset="-122"/>
                </a:endParaRPr>
              </a:p>
            </p:txBody>
          </p:sp>
        </p:grp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C8EC30B7-271C-C5F4-B682-E2CAD9179C25}"/>
                </a:ext>
              </a:extLst>
            </p:cNvPr>
            <p:cNvSpPr txBox="1"/>
            <p:nvPr/>
          </p:nvSpPr>
          <p:spPr>
            <a:xfrm>
              <a:off x="1938629" y="2742208"/>
              <a:ext cx="852574" cy="12882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b="1" dirty="0">
                  <a:solidFill>
                    <a:srgbClr val="2E75B6"/>
                  </a:solidFill>
                  <a:latin typeface="字魂36号-正文宋楷" panose="02000000000000000000" charset="-122"/>
                  <a:ea typeface="字魂36号-正文宋楷" panose="02000000000000000000" charset="-122"/>
                </a:rPr>
                <a:t>1</a:t>
              </a:r>
            </a:p>
          </p:txBody>
        </p:sp>
      </p:grpSp>
      <p:sp>
        <p:nvSpPr>
          <p:cNvPr id="37" name="矩形 36">
            <a:extLst>
              <a:ext uri="{FF2B5EF4-FFF2-40B4-BE49-F238E27FC236}">
                <a16:creationId xmlns:a16="http://schemas.microsoft.com/office/drawing/2014/main" id="{A1A3050D-A755-023A-63BF-F3F05925476C}"/>
              </a:ext>
            </a:extLst>
          </p:cNvPr>
          <p:cNvSpPr/>
          <p:nvPr/>
        </p:nvSpPr>
        <p:spPr>
          <a:xfrm>
            <a:off x="1076700" y="3912735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容器化部署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9785C8B-8D6D-D066-F75A-77083DDFB915}"/>
              </a:ext>
            </a:extLst>
          </p:cNvPr>
          <p:cNvSpPr/>
          <p:nvPr/>
        </p:nvSpPr>
        <p:spPr>
          <a:xfrm>
            <a:off x="693020" y="4391347"/>
            <a:ext cx="2769729" cy="16113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后续计划使用</a:t>
            </a:r>
            <a:r>
              <a:rPr lang="en-US" altLang="zh-CN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Docker</a:t>
            </a:r>
            <a:r>
              <a:rPr lang="zh-CN" altLang="en-US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进行容器化部署。计划为每个服务编写 </a:t>
            </a:r>
            <a:r>
              <a:rPr lang="en-US" altLang="zh-CN" sz="1100" dirty="0" err="1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Dockerfile</a:t>
            </a:r>
            <a:r>
              <a:rPr lang="zh-CN" altLang="en-US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，并通过 </a:t>
            </a:r>
            <a:r>
              <a:rPr lang="en-US" altLang="zh-CN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Kubernetes </a:t>
            </a:r>
            <a:r>
              <a:rPr lang="zh-CN" altLang="en-US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完成容器编排与服务管理。前端使用 </a:t>
            </a:r>
            <a:r>
              <a:rPr lang="en-US" altLang="zh-CN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Nginx </a:t>
            </a:r>
            <a:r>
              <a:rPr lang="zh-CN" altLang="en-US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容器进行托管，并配置反向代理到后端网关。这样整个系统可以通过 </a:t>
            </a:r>
            <a:r>
              <a:rPr lang="en-US" altLang="zh-CN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Kubernetes </a:t>
            </a:r>
            <a:r>
              <a:rPr lang="zh-CN" altLang="en-US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统一部署和管理，具备良好的扩展性与可迁移性。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857AFE5-29B6-741A-919E-2EAE228CF47A}"/>
              </a:ext>
            </a:extLst>
          </p:cNvPr>
          <p:cNvSpPr/>
          <p:nvPr/>
        </p:nvSpPr>
        <p:spPr>
          <a:xfrm>
            <a:off x="4994547" y="3912733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消息队列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7CFA92D-B2FD-EFB6-AC31-331312A1DD1D}"/>
              </a:ext>
            </a:extLst>
          </p:cNvPr>
          <p:cNvSpPr/>
          <p:nvPr/>
        </p:nvSpPr>
        <p:spPr>
          <a:xfrm>
            <a:off x="4299863" y="4374431"/>
            <a:ext cx="2769729" cy="1391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目前服务间都是 </a:t>
            </a:r>
            <a:r>
              <a:rPr lang="en-US" altLang="zh-CN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Feign </a:t>
            </a:r>
            <a:r>
              <a:rPr lang="zh-CN" altLang="en-US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同步调用，一旦某个服务响应慢或挂掉，整个调用链都会阻塞。引入</a:t>
            </a:r>
            <a:r>
              <a:rPr lang="en-US" altLang="zh-CN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RabbitMQ</a:t>
            </a:r>
            <a:r>
              <a:rPr lang="zh-CN" altLang="en-US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之后，例如发货这个操作，</a:t>
            </a:r>
            <a:r>
              <a:rPr lang="en-US" altLang="zh-CN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order-service</a:t>
            </a:r>
            <a:r>
              <a:rPr lang="zh-CN" altLang="en-US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只需要发一条</a:t>
            </a:r>
            <a:r>
              <a:rPr lang="en-US" altLang="zh-CN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"</a:t>
            </a:r>
            <a:r>
              <a:rPr lang="zh-CN" altLang="en-US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订单发货</a:t>
            </a:r>
            <a:r>
              <a:rPr lang="en-US" altLang="zh-CN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"</a:t>
            </a:r>
            <a:r>
              <a:rPr lang="zh-CN" altLang="en-US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消息，</a:t>
            </a:r>
            <a:r>
              <a:rPr lang="en-US" altLang="zh-CN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logistics-service</a:t>
            </a:r>
            <a:r>
              <a:rPr lang="zh-CN" altLang="en-US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订阅到之后异步去生成路线，两个服务就解耦了。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3E67018-9C9B-D3BD-93FA-F34BCC5DB8EC}"/>
              </a:ext>
            </a:extLst>
          </p:cNvPr>
          <p:cNvSpPr/>
          <p:nvPr/>
        </p:nvSpPr>
        <p:spPr>
          <a:xfrm>
            <a:off x="8539462" y="3920905"/>
            <a:ext cx="16349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Redis</a:t>
            </a:r>
            <a:r>
              <a:rPr lang="zh-CN" altLang="en-US" sz="24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缓存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7DCE904-9C12-7EE0-CE01-7D19C9B61700}"/>
              </a:ext>
            </a:extLst>
          </p:cNvPr>
          <p:cNvSpPr/>
          <p:nvPr/>
        </p:nvSpPr>
        <p:spPr>
          <a:xfrm>
            <a:off x="7972097" y="4374432"/>
            <a:ext cx="2769729" cy="1391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商品列表这类数据读多写少，现在每次都查数据库，压力比较大。加了 </a:t>
            </a:r>
            <a:r>
              <a:rPr lang="en-US" altLang="zh-CN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Redis </a:t>
            </a:r>
            <a:r>
              <a:rPr lang="zh-CN" altLang="en-US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之后，第一次查完放进缓存，后续直接从缓存取，能大幅降低数据库压力。另外 </a:t>
            </a:r>
            <a:r>
              <a:rPr lang="en-US" altLang="zh-CN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Token </a:t>
            </a:r>
            <a:r>
              <a:rPr lang="zh-CN" altLang="en-US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黑名单（用户退出登录后让 </a:t>
            </a:r>
            <a:r>
              <a:rPr lang="en-US" altLang="zh-CN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Token </a:t>
            </a:r>
            <a:r>
              <a:rPr lang="zh-CN" altLang="en-US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失效）也计划用 </a:t>
            </a:r>
            <a:r>
              <a:rPr lang="en-US" altLang="zh-CN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Redis </a:t>
            </a:r>
            <a:r>
              <a:rPr lang="zh-CN" altLang="en-US" sz="1100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来实现。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597AE78-FE08-9A6F-A330-D6094E42DDA3}"/>
              </a:ext>
            </a:extLst>
          </p:cNvPr>
          <p:cNvGrpSpPr/>
          <p:nvPr/>
        </p:nvGrpSpPr>
        <p:grpSpPr>
          <a:xfrm>
            <a:off x="4566848" y="1663740"/>
            <a:ext cx="2233886" cy="1925765"/>
            <a:chOff x="785794" y="1663741"/>
            <a:chExt cx="3116776" cy="2686878"/>
          </a:xfrm>
        </p:grpSpPr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DE40DADA-E545-6ED6-8C3F-B1FF80BBA64E}"/>
                </a:ext>
              </a:extLst>
            </p:cNvPr>
            <p:cNvGrpSpPr/>
            <p:nvPr/>
          </p:nvGrpSpPr>
          <p:grpSpPr>
            <a:xfrm>
              <a:off x="785794" y="1663741"/>
              <a:ext cx="3116776" cy="2686878"/>
              <a:chOff x="785794" y="1663741"/>
              <a:chExt cx="3116776" cy="2686878"/>
            </a:xfrm>
          </p:grpSpPr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F89920C5-F49E-6B99-1508-303FC67B4146}"/>
                  </a:ext>
                </a:extLst>
              </p:cNvPr>
              <p:cNvGrpSpPr/>
              <p:nvPr/>
            </p:nvGrpSpPr>
            <p:grpSpPr>
              <a:xfrm flipH="1">
                <a:off x="785794" y="1663741"/>
                <a:ext cx="3116776" cy="2686878"/>
                <a:chOff x="3241129" y="967902"/>
                <a:chExt cx="5709753" cy="4922199"/>
              </a:xfrm>
            </p:grpSpPr>
            <p:grpSp>
              <p:nvGrpSpPr>
                <p:cNvPr id="47" name="组合 46">
                  <a:extLst>
                    <a:ext uri="{FF2B5EF4-FFF2-40B4-BE49-F238E27FC236}">
                      <a16:creationId xmlns:a16="http://schemas.microsoft.com/office/drawing/2014/main" id="{E6B089E7-C913-A6E1-D9C8-916E1212C52A}"/>
                    </a:ext>
                  </a:extLst>
                </p:cNvPr>
                <p:cNvGrpSpPr/>
                <p:nvPr/>
              </p:nvGrpSpPr>
              <p:grpSpPr>
                <a:xfrm>
                  <a:off x="3241129" y="967902"/>
                  <a:ext cx="5709753" cy="4922199"/>
                  <a:chOff x="3241126" y="967902"/>
                  <a:chExt cx="5709748" cy="4922199"/>
                </a:xfrm>
              </p:grpSpPr>
              <p:sp>
                <p:nvSpPr>
                  <p:cNvPr id="50" name="等腰三角形 49">
                    <a:extLst>
                      <a:ext uri="{FF2B5EF4-FFF2-40B4-BE49-F238E27FC236}">
                        <a16:creationId xmlns:a16="http://schemas.microsoft.com/office/drawing/2014/main" id="{B3FC6355-6D8B-B356-3BAA-6634DEB2BCCC}"/>
                      </a:ext>
                    </a:extLst>
                  </p:cNvPr>
                  <p:cNvSpPr/>
                  <p:nvPr/>
                </p:nvSpPr>
                <p:spPr>
                  <a:xfrm>
                    <a:off x="3241126" y="967902"/>
                    <a:ext cx="5709747" cy="4922196"/>
                  </a:xfrm>
                  <a:prstGeom prst="triangle">
                    <a:avLst/>
                  </a:prstGeom>
                  <a:solidFill>
                    <a:srgbClr val="E9E9E9"/>
                  </a:solidFill>
                  <a:ln w="57150">
                    <a:solidFill>
                      <a:srgbClr val="2E75B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字魂36号-正文宋楷" panose="02000000000000000000" charset="-122"/>
                      <a:ea typeface="字魂36号-正文宋楷" panose="02000000000000000000" charset="-122"/>
                    </a:endParaRPr>
                  </a:p>
                </p:txBody>
              </p:sp>
              <p:cxnSp>
                <p:nvCxnSpPr>
                  <p:cNvPr id="51" name="直接连接符 50">
                    <a:extLst>
                      <a:ext uri="{FF2B5EF4-FFF2-40B4-BE49-F238E27FC236}">
                        <a16:creationId xmlns:a16="http://schemas.microsoft.com/office/drawing/2014/main" id="{11245E13-DDF1-6C85-2AAA-B67F8AD38362}"/>
                      </a:ext>
                    </a:extLst>
                  </p:cNvPr>
                  <p:cNvCxnSpPr>
                    <a:stCxn id="50" idx="0"/>
                  </p:cNvCxnSpPr>
                  <p:nvPr/>
                </p:nvCxnSpPr>
                <p:spPr>
                  <a:xfrm rot="11303420" flipH="1" flipV="1">
                    <a:off x="5858688" y="985309"/>
                    <a:ext cx="474623" cy="3217900"/>
                  </a:xfrm>
                  <a:prstGeom prst="line">
                    <a:avLst/>
                  </a:prstGeom>
                  <a:ln w="76200">
                    <a:solidFill>
                      <a:srgbClr val="2E75B6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直接连接符 51">
                    <a:extLst>
                      <a:ext uri="{FF2B5EF4-FFF2-40B4-BE49-F238E27FC236}">
                        <a16:creationId xmlns:a16="http://schemas.microsoft.com/office/drawing/2014/main" id="{73891594-5CA6-62A3-9098-2F8FE879AA99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6093606" y="4240456"/>
                    <a:ext cx="2857268" cy="1649645"/>
                  </a:xfrm>
                  <a:prstGeom prst="line">
                    <a:avLst/>
                  </a:prstGeom>
                  <a:ln w="76200">
                    <a:solidFill>
                      <a:srgbClr val="2E75B6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直接连接符 52">
                    <a:extLst>
                      <a:ext uri="{FF2B5EF4-FFF2-40B4-BE49-F238E27FC236}">
                        <a16:creationId xmlns:a16="http://schemas.microsoft.com/office/drawing/2014/main" id="{ADFD93A8-0B90-3FEF-24A4-47E3565C8DA8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241127" y="4236312"/>
                    <a:ext cx="2864445" cy="1653789"/>
                  </a:xfrm>
                  <a:prstGeom prst="line">
                    <a:avLst/>
                  </a:prstGeom>
                  <a:ln w="76200">
                    <a:solidFill>
                      <a:srgbClr val="2E75B6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8" name="等腰三角形 47">
                  <a:extLst>
                    <a:ext uri="{FF2B5EF4-FFF2-40B4-BE49-F238E27FC236}">
                      <a16:creationId xmlns:a16="http://schemas.microsoft.com/office/drawing/2014/main" id="{81007977-5DB7-9B18-B644-F90936AA5040}"/>
                    </a:ext>
                  </a:extLst>
                </p:cNvPr>
                <p:cNvSpPr/>
                <p:nvPr/>
              </p:nvSpPr>
              <p:spPr>
                <a:xfrm>
                  <a:off x="5353054" y="4334047"/>
                  <a:ext cx="1485901" cy="451940"/>
                </a:xfrm>
                <a:prstGeom prst="triangle">
                  <a:avLst/>
                </a:prstGeom>
                <a:solidFill>
                  <a:srgbClr val="1A989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字魂36号-正文宋楷" panose="02000000000000000000" charset="-122"/>
                    <a:ea typeface="字魂36号-正文宋楷" panose="02000000000000000000" charset="-122"/>
                  </a:endParaRPr>
                </a:p>
              </p:txBody>
            </p:sp>
            <p:sp>
              <p:nvSpPr>
                <p:cNvPr id="49" name="等腰三角形 16">
                  <a:extLst>
                    <a:ext uri="{FF2B5EF4-FFF2-40B4-BE49-F238E27FC236}">
                      <a16:creationId xmlns:a16="http://schemas.microsoft.com/office/drawing/2014/main" id="{3FD522B7-81E1-4792-CFFB-0E98B68D14A8}"/>
                    </a:ext>
                  </a:extLst>
                </p:cNvPr>
                <p:cNvSpPr/>
                <p:nvPr/>
              </p:nvSpPr>
              <p:spPr>
                <a:xfrm rot="16200000">
                  <a:off x="5407214" y="1449360"/>
                  <a:ext cx="742950" cy="451940"/>
                </a:xfrm>
                <a:custGeom>
                  <a:avLst/>
                  <a:gdLst>
                    <a:gd name="connsiteX0" fmla="*/ 0 w 1485900"/>
                    <a:gd name="connsiteY0" fmla="*/ 451940 h 451940"/>
                    <a:gd name="connsiteX1" fmla="*/ 742950 w 1485900"/>
                    <a:gd name="connsiteY1" fmla="*/ 0 h 451940"/>
                    <a:gd name="connsiteX2" fmla="*/ 1485900 w 1485900"/>
                    <a:gd name="connsiteY2" fmla="*/ 451940 h 451940"/>
                    <a:gd name="connsiteX3" fmla="*/ 0 w 1485900"/>
                    <a:gd name="connsiteY3" fmla="*/ 451940 h 451940"/>
                    <a:gd name="connsiteX0-1" fmla="*/ 123324 w 742950"/>
                    <a:gd name="connsiteY0-2" fmla="*/ 432689 h 451940"/>
                    <a:gd name="connsiteX1-3" fmla="*/ 0 w 742950"/>
                    <a:gd name="connsiteY1-4" fmla="*/ 0 h 451940"/>
                    <a:gd name="connsiteX2-5" fmla="*/ 742950 w 742950"/>
                    <a:gd name="connsiteY2-6" fmla="*/ 451940 h 451940"/>
                    <a:gd name="connsiteX3-7" fmla="*/ 123324 w 742950"/>
                    <a:gd name="connsiteY3-8" fmla="*/ 432689 h 451940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742950" h="451940">
                      <a:moveTo>
                        <a:pt x="123324" y="432689"/>
                      </a:moveTo>
                      <a:lnTo>
                        <a:pt x="0" y="0"/>
                      </a:lnTo>
                      <a:lnTo>
                        <a:pt x="742950" y="451940"/>
                      </a:lnTo>
                      <a:lnTo>
                        <a:pt x="123324" y="432689"/>
                      </a:lnTo>
                      <a:close/>
                    </a:path>
                  </a:pathLst>
                </a:cu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字魂36号-正文宋楷" panose="02000000000000000000" charset="-122"/>
                    <a:ea typeface="字魂36号-正文宋楷" panose="02000000000000000000" charset="-122"/>
                  </a:endParaRPr>
                </a:p>
              </p:txBody>
            </p:sp>
          </p:grpSp>
          <p:sp>
            <p:nvSpPr>
              <p:cNvPr id="46" name="等腰三角形 45">
                <a:extLst>
                  <a:ext uri="{FF2B5EF4-FFF2-40B4-BE49-F238E27FC236}">
                    <a16:creationId xmlns:a16="http://schemas.microsoft.com/office/drawing/2014/main" id="{B41BAFA7-4E34-D7FA-AF12-021CAD4ED731}"/>
                  </a:ext>
                </a:extLst>
              </p:cNvPr>
              <p:cNvSpPr/>
              <p:nvPr/>
            </p:nvSpPr>
            <p:spPr>
              <a:xfrm rot="3600000">
                <a:off x="1376413" y="1905544"/>
                <a:ext cx="2567202" cy="2213104"/>
              </a:xfrm>
              <a:prstGeom prst="triangle">
                <a:avLst/>
              </a:prstGeom>
              <a:solidFill>
                <a:srgbClr val="E9E9E9"/>
              </a:solidFill>
              <a:ln>
                <a:solidFill>
                  <a:srgbClr val="2E75B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字魂36号-正文宋楷" panose="02000000000000000000" charset="-122"/>
                  <a:ea typeface="字魂36号-正文宋楷" panose="02000000000000000000" charset="-122"/>
                </a:endParaRPr>
              </a:p>
            </p:txBody>
          </p:sp>
        </p:grp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361AD76A-905F-57E3-0D3C-8725187A92E2}"/>
                </a:ext>
              </a:extLst>
            </p:cNvPr>
            <p:cNvSpPr txBox="1"/>
            <p:nvPr/>
          </p:nvSpPr>
          <p:spPr>
            <a:xfrm>
              <a:off x="1938629" y="2742208"/>
              <a:ext cx="852574" cy="12882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b="1" dirty="0">
                  <a:solidFill>
                    <a:srgbClr val="2E75B6"/>
                  </a:solidFill>
                  <a:latin typeface="字魂36号-正文宋楷" panose="02000000000000000000" charset="-122"/>
                  <a:ea typeface="字魂36号-正文宋楷" panose="02000000000000000000" charset="-122"/>
                </a:rPr>
                <a:t>2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1B252FBE-8264-9C2B-60D2-62D554A3AAB0}"/>
              </a:ext>
            </a:extLst>
          </p:cNvPr>
          <p:cNvGrpSpPr/>
          <p:nvPr/>
        </p:nvGrpSpPr>
        <p:grpSpPr>
          <a:xfrm>
            <a:off x="8239082" y="1675699"/>
            <a:ext cx="2233886" cy="1925765"/>
            <a:chOff x="785794" y="1663741"/>
            <a:chExt cx="3116776" cy="2686878"/>
          </a:xfrm>
        </p:grpSpPr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02958581-FE3F-A830-7F47-8A4BF669FE03}"/>
                </a:ext>
              </a:extLst>
            </p:cNvPr>
            <p:cNvGrpSpPr/>
            <p:nvPr/>
          </p:nvGrpSpPr>
          <p:grpSpPr>
            <a:xfrm>
              <a:off x="785794" y="1663741"/>
              <a:ext cx="3116776" cy="2686878"/>
              <a:chOff x="785794" y="1663741"/>
              <a:chExt cx="3116776" cy="2686878"/>
            </a:xfrm>
          </p:grpSpPr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3F3409A5-ECC8-D2FF-2C1E-CECADC855D2F}"/>
                  </a:ext>
                </a:extLst>
              </p:cNvPr>
              <p:cNvGrpSpPr/>
              <p:nvPr/>
            </p:nvGrpSpPr>
            <p:grpSpPr>
              <a:xfrm flipH="1">
                <a:off x="785794" y="1663741"/>
                <a:ext cx="3116776" cy="2686878"/>
                <a:chOff x="3241129" y="967902"/>
                <a:chExt cx="5709753" cy="4922199"/>
              </a:xfrm>
            </p:grpSpPr>
            <p:grpSp>
              <p:nvGrpSpPr>
                <p:cNvPr id="59" name="组合 58">
                  <a:extLst>
                    <a:ext uri="{FF2B5EF4-FFF2-40B4-BE49-F238E27FC236}">
                      <a16:creationId xmlns:a16="http://schemas.microsoft.com/office/drawing/2014/main" id="{B5623350-4655-03BE-4C5C-1F7AE9F54FDA}"/>
                    </a:ext>
                  </a:extLst>
                </p:cNvPr>
                <p:cNvGrpSpPr/>
                <p:nvPr/>
              </p:nvGrpSpPr>
              <p:grpSpPr>
                <a:xfrm>
                  <a:off x="3241129" y="967902"/>
                  <a:ext cx="5709753" cy="4922199"/>
                  <a:chOff x="3241126" y="967902"/>
                  <a:chExt cx="5709748" cy="4922199"/>
                </a:xfrm>
              </p:grpSpPr>
              <p:sp>
                <p:nvSpPr>
                  <p:cNvPr id="62" name="等腰三角形 61">
                    <a:extLst>
                      <a:ext uri="{FF2B5EF4-FFF2-40B4-BE49-F238E27FC236}">
                        <a16:creationId xmlns:a16="http://schemas.microsoft.com/office/drawing/2014/main" id="{CB8D9541-89A4-4516-62D3-B2BF518EB0D8}"/>
                      </a:ext>
                    </a:extLst>
                  </p:cNvPr>
                  <p:cNvSpPr/>
                  <p:nvPr/>
                </p:nvSpPr>
                <p:spPr>
                  <a:xfrm>
                    <a:off x="3241126" y="967902"/>
                    <a:ext cx="5709747" cy="4922196"/>
                  </a:xfrm>
                  <a:prstGeom prst="triangle">
                    <a:avLst/>
                  </a:prstGeom>
                  <a:solidFill>
                    <a:srgbClr val="E9E9E9"/>
                  </a:solidFill>
                  <a:ln w="57150">
                    <a:solidFill>
                      <a:srgbClr val="2E75B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字魂36号-正文宋楷" panose="02000000000000000000" charset="-122"/>
                      <a:ea typeface="字魂36号-正文宋楷" panose="02000000000000000000" charset="-122"/>
                    </a:endParaRPr>
                  </a:p>
                </p:txBody>
              </p:sp>
              <p:cxnSp>
                <p:nvCxnSpPr>
                  <p:cNvPr id="63" name="直接连接符 62">
                    <a:extLst>
                      <a:ext uri="{FF2B5EF4-FFF2-40B4-BE49-F238E27FC236}">
                        <a16:creationId xmlns:a16="http://schemas.microsoft.com/office/drawing/2014/main" id="{F69E1CCE-EE56-4431-2023-3D4E81C71E1B}"/>
                      </a:ext>
                    </a:extLst>
                  </p:cNvPr>
                  <p:cNvCxnSpPr>
                    <a:stCxn id="62" idx="0"/>
                  </p:cNvCxnSpPr>
                  <p:nvPr/>
                </p:nvCxnSpPr>
                <p:spPr>
                  <a:xfrm rot="11303420" flipH="1" flipV="1">
                    <a:off x="5858688" y="985309"/>
                    <a:ext cx="474623" cy="3217900"/>
                  </a:xfrm>
                  <a:prstGeom prst="line">
                    <a:avLst/>
                  </a:prstGeom>
                  <a:ln w="76200">
                    <a:solidFill>
                      <a:srgbClr val="2E75B6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直接连接符 63">
                    <a:extLst>
                      <a:ext uri="{FF2B5EF4-FFF2-40B4-BE49-F238E27FC236}">
                        <a16:creationId xmlns:a16="http://schemas.microsoft.com/office/drawing/2014/main" id="{BD2639E4-C8D7-C4AB-7FF3-AEAF12591EB8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6093606" y="4240456"/>
                    <a:ext cx="2857268" cy="1649645"/>
                  </a:xfrm>
                  <a:prstGeom prst="line">
                    <a:avLst/>
                  </a:prstGeom>
                  <a:ln w="76200">
                    <a:solidFill>
                      <a:srgbClr val="2E75B6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直接连接符 64">
                    <a:extLst>
                      <a:ext uri="{FF2B5EF4-FFF2-40B4-BE49-F238E27FC236}">
                        <a16:creationId xmlns:a16="http://schemas.microsoft.com/office/drawing/2014/main" id="{5F778D68-1EBD-DA27-7AB8-D4EE3B14D8F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241127" y="4236312"/>
                    <a:ext cx="2864445" cy="1653789"/>
                  </a:xfrm>
                  <a:prstGeom prst="line">
                    <a:avLst/>
                  </a:prstGeom>
                  <a:ln w="76200">
                    <a:solidFill>
                      <a:srgbClr val="2E75B6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0" name="等腰三角形 59">
                  <a:extLst>
                    <a:ext uri="{FF2B5EF4-FFF2-40B4-BE49-F238E27FC236}">
                      <a16:creationId xmlns:a16="http://schemas.microsoft.com/office/drawing/2014/main" id="{FDB0CC68-E2DC-01D1-32BF-062C4BEAD7CA}"/>
                    </a:ext>
                  </a:extLst>
                </p:cNvPr>
                <p:cNvSpPr/>
                <p:nvPr/>
              </p:nvSpPr>
              <p:spPr>
                <a:xfrm>
                  <a:off x="5353054" y="4334047"/>
                  <a:ext cx="1485901" cy="451940"/>
                </a:xfrm>
                <a:prstGeom prst="triangle">
                  <a:avLst/>
                </a:prstGeom>
                <a:solidFill>
                  <a:srgbClr val="1A989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字魂36号-正文宋楷" panose="02000000000000000000" charset="-122"/>
                    <a:ea typeface="字魂36号-正文宋楷" panose="02000000000000000000" charset="-122"/>
                  </a:endParaRPr>
                </a:p>
              </p:txBody>
            </p:sp>
            <p:sp>
              <p:nvSpPr>
                <p:cNvPr id="61" name="等腰三角形 16">
                  <a:extLst>
                    <a:ext uri="{FF2B5EF4-FFF2-40B4-BE49-F238E27FC236}">
                      <a16:creationId xmlns:a16="http://schemas.microsoft.com/office/drawing/2014/main" id="{B9B39A4E-8B42-D286-C2F0-D25D89DA362F}"/>
                    </a:ext>
                  </a:extLst>
                </p:cNvPr>
                <p:cNvSpPr/>
                <p:nvPr/>
              </p:nvSpPr>
              <p:spPr>
                <a:xfrm rot="16200000">
                  <a:off x="5407214" y="1449360"/>
                  <a:ext cx="742950" cy="451940"/>
                </a:xfrm>
                <a:custGeom>
                  <a:avLst/>
                  <a:gdLst>
                    <a:gd name="connsiteX0" fmla="*/ 0 w 1485900"/>
                    <a:gd name="connsiteY0" fmla="*/ 451940 h 451940"/>
                    <a:gd name="connsiteX1" fmla="*/ 742950 w 1485900"/>
                    <a:gd name="connsiteY1" fmla="*/ 0 h 451940"/>
                    <a:gd name="connsiteX2" fmla="*/ 1485900 w 1485900"/>
                    <a:gd name="connsiteY2" fmla="*/ 451940 h 451940"/>
                    <a:gd name="connsiteX3" fmla="*/ 0 w 1485900"/>
                    <a:gd name="connsiteY3" fmla="*/ 451940 h 451940"/>
                    <a:gd name="connsiteX0-1" fmla="*/ 123324 w 742950"/>
                    <a:gd name="connsiteY0-2" fmla="*/ 432689 h 451940"/>
                    <a:gd name="connsiteX1-3" fmla="*/ 0 w 742950"/>
                    <a:gd name="connsiteY1-4" fmla="*/ 0 h 451940"/>
                    <a:gd name="connsiteX2-5" fmla="*/ 742950 w 742950"/>
                    <a:gd name="connsiteY2-6" fmla="*/ 451940 h 451940"/>
                    <a:gd name="connsiteX3-7" fmla="*/ 123324 w 742950"/>
                    <a:gd name="connsiteY3-8" fmla="*/ 432689 h 451940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742950" h="451940">
                      <a:moveTo>
                        <a:pt x="123324" y="432689"/>
                      </a:moveTo>
                      <a:lnTo>
                        <a:pt x="0" y="0"/>
                      </a:lnTo>
                      <a:lnTo>
                        <a:pt x="742950" y="451940"/>
                      </a:lnTo>
                      <a:lnTo>
                        <a:pt x="123324" y="432689"/>
                      </a:lnTo>
                      <a:close/>
                    </a:path>
                  </a:pathLst>
                </a:cu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字魂36号-正文宋楷" panose="02000000000000000000" charset="-122"/>
                    <a:ea typeface="字魂36号-正文宋楷" panose="02000000000000000000" charset="-122"/>
                  </a:endParaRPr>
                </a:p>
              </p:txBody>
            </p:sp>
          </p:grpSp>
          <p:sp>
            <p:nvSpPr>
              <p:cNvPr id="58" name="等腰三角形 57">
                <a:extLst>
                  <a:ext uri="{FF2B5EF4-FFF2-40B4-BE49-F238E27FC236}">
                    <a16:creationId xmlns:a16="http://schemas.microsoft.com/office/drawing/2014/main" id="{6C542E87-6C57-5747-6103-F5402B68CF1C}"/>
                  </a:ext>
                </a:extLst>
              </p:cNvPr>
              <p:cNvSpPr/>
              <p:nvPr/>
            </p:nvSpPr>
            <p:spPr>
              <a:xfrm rot="3600000">
                <a:off x="1376413" y="1905544"/>
                <a:ext cx="2567202" cy="2213104"/>
              </a:xfrm>
              <a:prstGeom prst="triangle">
                <a:avLst/>
              </a:prstGeom>
              <a:solidFill>
                <a:srgbClr val="E9E9E9"/>
              </a:solidFill>
              <a:ln>
                <a:solidFill>
                  <a:srgbClr val="2E75B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字魂36号-正文宋楷" panose="02000000000000000000" charset="-122"/>
                  <a:ea typeface="字魂36号-正文宋楷" panose="02000000000000000000" charset="-122"/>
                </a:endParaRPr>
              </a:p>
            </p:txBody>
          </p:sp>
        </p:grp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BF063E37-A58D-07A3-C225-03C656083378}"/>
                </a:ext>
              </a:extLst>
            </p:cNvPr>
            <p:cNvSpPr txBox="1"/>
            <p:nvPr/>
          </p:nvSpPr>
          <p:spPr>
            <a:xfrm>
              <a:off x="1938629" y="2742208"/>
              <a:ext cx="852574" cy="12882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b="1" dirty="0">
                  <a:solidFill>
                    <a:srgbClr val="2E75B6"/>
                  </a:solidFill>
                  <a:latin typeface="字魂36号-正文宋楷" panose="02000000000000000000" charset="-122"/>
                  <a:ea typeface="字魂36号-正文宋楷" panose="02000000000000000000" charset="-122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8652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970023" y="2504762"/>
            <a:ext cx="4251960" cy="13220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8000" b="1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</a:rPr>
              <a:t>谢谢观看</a:t>
            </a:r>
          </a:p>
        </p:txBody>
      </p:sp>
      <p:sp>
        <p:nvSpPr>
          <p:cNvPr id="4" name="矩形 3"/>
          <p:cNvSpPr/>
          <p:nvPr/>
        </p:nvSpPr>
        <p:spPr>
          <a:xfrm>
            <a:off x="5066302" y="3828201"/>
            <a:ext cx="27060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汇报人：付苗</a:t>
            </a:r>
            <a:endParaRPr lang="en-US" altLang="zh-CN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  <a:p>
            <a:r>
              <a:rPr lang="zh-CN" altLang="en-US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汇报时间：</a:t>
            </a:r>
            <a:r>
              <a:rPr lang="en-US" altLang="zh-CN" dirty="0">
                <a:solidFill>
                  <a:srgbClr val="2E75B6"/>
                </a:solidFill>
                <a:latin typeface="字魂36号-正文宋楷" panose="02000000000000000000" charset="-122"/>
                <a:ea typeface="字魂36号-正文宋楷" panose="02000000000000000000" charset="-122"/>
                <a:cs typeface="字魂36号-正文宋楷" panose="02000000000000000000" charset="-122"/>
              </a:rPr>
              <a:t>2026.03.26</a:t>
            </a:r>
            <a:endParaRPr lang="zh-CN" altLang="en-US" dirty="0">
              <a:solidFill>
                <a:srgbClr val="2E75B6"/>
              </a:solidFill>
              <a:latin typeface="字魂36号-正文宋楷" panose="02000000000000000000" charset="-122"/>
              <a:ea typeface="字魂36号-正文宋楷" panose="02000000000000000000" charset="-122"/>
              <a:cs typeface="字魂36号-正文宋楷" panose="02000000000000000000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3852333" y="3737409"/>
            <a:ext cx="4626052" cy="0"/>
          </a:xfrm>
          <a:prstGeom prst="line">
            <a:avLst/>
          </a:prstGeom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1 (27)"/>
  <p:tag name="KSO_WM_DOC_GUID" val="{79fd6bfd-a7f9-49da-bffa-8212fe2bfe4e}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7">
      <a:majorFont>
        <a:latin typeface="Calibri Light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506</TotalTime>
  <Words>1656</Words>
  <PresentationFormat>宽屏</PresentationFormat>
  <Paragraphs>421</Paragraphs>
  <Slides>35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39" baseType="lpstr">
      <vt:lpstr>等线</vt:lpstr>
      <vt:lpstr>字魂36号-正文宋楷</vt:lpstr>
      <vt:lpstr>Arial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2015-08-18T02:51:00Z</dcterms:created>
  <dcterms:modified xsi:type="dcterms:W3CDTF">2026-03-25T16:32:19Z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2052-11.1.0.8612</vt:lpwstr>
  </property>
</Properties>
</file>